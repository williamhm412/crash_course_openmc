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71" r:id="rId2"/>
    <p:sldId id="287" r:id="rId3"/>
    <p:sldId id="258" r:id="rId4"/>
    <p:sldId id="277" r:id="rId5"/>
    <p:sldId id="298" r:id="rId6"/>
    <p:sldId id="295" r:id="rId7"/>
    <p:sldId id="302" r:id="rId8"/>
    <p:sldId id="301" r:id="rId9"/>
    <p:sldId id="300" r:id="rId10"/>
    <p:sldId id="299" r:id="rId11"/>
    <p:sldId id="294" r:id="rId12"/>
    <p:sldId id="291" r:id="rId13"/>
    <p:sldId id="278" r:id="rId14"/>
    <p:sldId id="279" r:id="rId15"/>
    <p:sldId id="280" r:id="rId16"/>
    <p:sldId id="303" r:id="rId17"/>
    <p:sldId id="304" r:id="rId18"/>
    <p:sldId id="284" r:id="rId19"/>
    <p:sldId id="290" r:id="rId20"/>
    <p:sldId id="282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CC366A-A56A-4D61-850C-721D117971F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0448A-DFBE-4CBA-8364-B0F4961AE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266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47157-CD57-42FD-AB37-70B70B85F13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50179A0B-E4AA-4B28-A6B7-341900B6B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195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47157-CD57-42FD-AB37-70B70B85F13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79A0B-E4AA-4B28-A6B7-341900B6B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605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89347157-CD57-42FD-AB37-70B70B85F13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50179A0B-E4AA-4B28-A6B7-341900B6B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085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47157-CD57-42FD-AB37-70B70B85F13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79A0B-E4AA-4B28-A6B7-341900B6B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345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47157-CD57-42FD-AB37-70B70B85F13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79A0B-E4AA-4B28-A6B7-341900B6B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040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47157-CD57-42FD-AB37-70B70B85F13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79A0B-E4AA-4B28-A6B7-341900B6B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346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47157-CD57-42FD-AB37-70B70B85F13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79A0B-E4AA-4B28-A6B7-341900B6B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470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47157-CD57-42FD-AB37-70B70B85F13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79A0B-E4AA-4B28-A6B7-341900B6B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109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47157-CD57-42FD-AB37-70B70B85F13E}" type="datetimeFigureOut">
              <a:rPr lang="en-US" smtClean="0"/>
              <a:t>11/16/2025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79A0B-E4AA-4B28-A6B7-341900B6B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783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47157-CD57-42FD-AB37-70B70B85F13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79A0B-E4AA-4B28-A6B7-341900B6B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973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47157-CD57-42FD-AB37-70B70B85F13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79A0B-E4AA-4B28-A6B7-341900B6B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378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9347157-CD57-42FD-AB37-70B70B85F13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50179A0B-E4AA-4B28-A6B7-341900B6B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339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ecd-nea.org/janisweb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penmc-dev/openmc/wiki/Example-Jupyter-Notebooks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nbviewer.jupyter.org/github/openmc-dev/openmc-notebooks/blob/main/mgxs-part-ii.ipynb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penmc.org/en/stable/usersguide/index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FDFA4-8FE5-63C4-598D-6DFE3B492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DDC8B-7B76-5276-1DE2-F974BA9E2D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OpenMC is cool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F3B879-1CB4-8E49-6E94-654C7403B1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/>
              <a:t>Week 3 </a:t>
            </a:r>
            <a:r>
              <a:rPr lang="en-US" dirty="0"/>
              <a:t>– Basics</a:t>
            </a:r>
          </a:p>
        </p:txBody>
      </p:sp>
    </p:spTree>
    <p:extLst>
      <p:ext uri="{BB962C8B-B14F-4D97-AF65-F5344CB8AC3E}">
        <p14:creationId xmlns:p14="http://schemas.microsoft.com/office/powerpoint/2010/main" val="3316423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45BD4-D911-651D-B6BE-221AC1881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609344"/>
          </a:xfrm>
        </p:spPr>
        <p:txBody>
          <a:bodyPr/>
          <a:lstStyle/>
          <a:p>
            <a:r>
              <a:rPr lang="en-US" dirty="0"/>
              <a:t>Review From Week 2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EC33BAC-B592-D86A-9888-2E01AA435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502230"/>
            <a:ext cx="10058400" cy="51271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Theory</a:t>
            </a:r>
          </a:p>
          <a:p>
            <a:r>
              <a:rPr lang="en-US" dirty="0"/>
              <a:t>CSG (Constructive Solid Geometry)</a:t>
            </a:r>
          </a:p>
          <a:p>
            <a:r>
              <a:rPr lang="en-US" dirty="0"/>
              <a:t>Particle Transport (surface tracking, random numbers, etc.)</a:t>
            </a:r>
          </a:p>
          <a:p>
            <a:r>
              <a:rPr lang="en-US" dirty="0"/>
              <a:t>Cycles (active/inactive)</a:t>
            </a:r>
          </a:p>
          <a:p>
            <a:r>
              <a:rPr lang="en-US" dirty="0"/>
              <a:t>Shannon Entropy</a:t>
            </a:r>
          </a:p>
          <a:p>
            <a:r>
              <a:rPr lang="en-US" dirty="0" err="1"/>
              <a:t>keff</a:t>
            </a:r>
            <a:r>
              <a:rPr lang="en-US" dirty="0"/>
              <a:t> calculations</a:t>
            </a:r>
          </a:p>
          <a:p>
            <a:pPr marL="0" indent="0">
              <a:buNone/>
            </a:pPr>
            <a:r>
              <a:rPr lang="en-US" b="1" dirty="0"/>
              <a:t>Skills</a:t>
            </a:r>
          </a:p>
          <a:p>
            <a:r>
              <a:rPr lang="en-US" dirty="0"/>
              <a:t>Materials</a:t>
            </a:r>
          </a:p>
          <a:p>
            <a:r>
              <a:rPr lang="en-US" dirty="0"/>
              <a:t>Surfaces</a:t>
            </a:r>
          </a:p>
          <a:p>
            <a:r>
              <a:rPr lang="en-US" dirty="0"/>
              <a:t>Cells</a:t>
            </a:r>
          </a:p>
          <a:p>
            <a:r>
              <a:rPr lang="en-US" dirty="0"/>
              <a:t>Boundary Conditions</a:t>
            </a:r>
          </a:p>
          <a:p>
            <a:r>
              <a:rPr lang="en-US" dirty="0"/>
              <a:t>Sources</a:t>
            </a:r>
          </a:p>
        </p:txBody>
      </p:sp>
    </p:spTree>
    <p:extLst>
      <p:ext uri="{BB962C8B-B14F-4D97-AF65-F5344CB8AC3E}">
        <p14:creationId xmlns:p14="http://schemas.microsoft.com/office/powerpoint/2010/main" val="2768497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0A201-1398-99CA-A290-AC4C8A7AB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609344"/>
          </a:xfrm>
        </p:spPr>
        <p:txBody>
          <a:bodyPr/>
          <a:lstStyle/>
          <a:p>
            <a:r>
              <a:rPr lang="en-US" dirty="0"/>
              <a:t>Goals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B11C5-D32C-7830-E342-DA50D5AC6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502230"/>
            <a:ext cx="10058400" cy="38208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Theory</a:t>
            </a:r>
          </a:p>
          <a:p>
            <a:r>
              <a:rPr lang="en-US" dirty="0"/>
              <a:t>Continuous Energy &amp; Multigroup Cross Sections</a:t>
            </a:r>
          </a:p>
          <a:p>
            <a:r>
              <a:rPr lang="en-US" dirty="0"/>
              <a:t>Thermal Scattering Laws</a:t>
            </a:r>
          </a:p>
          <a:p>
            <a:pPr marL="0" indent="0">
              <a:buNone/>
            </a:pPr>
            <a:r>
              <a:rPr lang="en-US" b="1" dirty="0"/>
              <a:t>Skills (The bulk of today)</a:t>
            </a:r>
          </a:p>
          <a:p>
            <a:r>
              <a:rPr lang="en-US" dirty="0"/>
              <a:t>Universes</a:t>
            </a:r>
          </a:p>
          <a:p>
            <a:r>
              <a:rPr lang="en-US" dirty="0"/>
              <a:t>Settings</a:t>
            </a:r>
          </a:p>
          <a:p>
            <a:r>
              <a:rPr lang="en-US" dirty="0"/>
              <a:t>Starting a Run</a:t>
            </a:r>
          </a:p>
          <a:p>
            <a:r>
              <a:rPr lang="en-US" dirty="0"/>
              <a:t>Pincell Creation</a:t>
            </a:r>
          </a:p>
        </p:txBody>
      </p:sp>
    </p:spTree>
    <p:extLst>
      <p:ext uri="{BB962C8B-B14F-4D97-AF65-F5344CB8AC3E}">
        <p14:creationId xmlns:p14="http://schemas.microsoft.com/office/powerpoint/2010/main" val="3478548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55E29-EDBA-C8FC-D499-64500E385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B92A94-408F-3F52-DB61-75F5EEB1D3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Please stop and ask question along the way</a:t>
            </a:r>
          </a:p>
        </p:txBody>
      </p:sp>
    </p:spTree>
    <p:extLst>
      <p:ext uri="{BB962C8B-B14F-4D97-AF65-F5344CB8AC3E}">
        <p14:creationId xmlns:p14="http://schemas.microsoft.com/office/powerpoint/2010/main" val="809945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228F8-F4EC-9E38-7F6B-59281A264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 Sections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23510-90D6-E064-EAAA-382F1FEFC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Likelihood of an interaction between an incident neutron and a nucleus</a:t>
            </a:r>
          </a:p>
          <a:p>
            <a:r>
              <a:rPr lang="en-US" dirty="0"/>
              <a:t>Dependent on the energy of the incident neutron</a:t>
            </a:r>
          </a:p>
          <a:p>
            <a:r>
              <a:rPr lang="en-US" dirty="0"/>
              <a:t>“Messy” looking functions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3FCB81-09E3-591C-697A-4508C2D099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0" t="2455" r="1737" b="6328"/>
          <a:stretch>
            <a:fillRect/>
          </a:stretch>
        </p:blipFill>
        <p:spPr>
          <a:xfrm>
            <a:off x="957943" y="3429000"/>
            <a:ext cx="10334385" cy="3114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634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0B490-CE74-FF7B-2488-483CF9E7C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83552-D859-F6C5-3650-075AEB082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 Section data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00C4B95-FE8D-5296-950D-A2989082368F}"/>
              </a:ext>
            </a:extLst>
          </p:cNvPr>
          <p:cNvSpPr txBox="1">
            <a:spLocks/>
          </p:cNvSpPr>
          <p:nvPr/>
        </p:nvSpPr>
        <p:spPr>
          <a:xfrm>
            <a:off x="1069848" y="2121408"/>
            <a:ext cx="9968266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4428A4F-AD94-6031-EB97-75249B7C2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10058400" cy="4050792"/>
          </a:xfrm>
        </p:spPr>
        <p:txBody>
          <a:bodyPr/>
          <a:lstStyle/>
          <a:p>
            <a:r>
              <a:rPr lang="en-US" dirty="0"/>
              <a:t>Cross section data is measured and recorded (a large, ongoing process, new values for cross sections are released periodically)</a:t>
            </a:r>
          </a:p>
          <a:p>
            <a:r>
              <a:rPr lang="en-US" dirty="0"/>
              <a:t>ENDF (US &amp; Canada) / JEFF (Europe) / JENDL (Japan), etc. are compilations of cross section data</a:t>
            </a:r>
            <a:endParaRPr lang="en-US" dirty="0">
              <a:hlinkClick r:id="rId2"/>
            </a:endParaRPr>
          </a:p>
          <a:p>
            <a:r>
              <a:rPr lang="en-US" dirty="0">
                <a:hlinkClick r:id="rId2"/>
              </a:rPr>
              <a:t>https://www.oecd-nea.org/janisweb/</a:t>
            </a:r>
            <a:r>
              <a:rPr lang="en-US" dirty="0"/>
              <a:t> is a great tool for visualizing cross section data of isotopes</a:t>
            </a:r>
          </a:p>
        </p:txBody>
      </p:sp>
      <p:sp>
        <p:nvSpPr>
          <p:cNvPr id="9" name="AutoShape 2" descr="Generated image">
            <a:extLst>
              <a:ext uri="{FF2B5EF4-FFF2-40B4-BE49-F238E27FC236}">
                <a16:creationId xmlns:a16="http://schemas.microsoft.com/office/drawing/2014/main" id="{1C85E8EA-294F-B0D2-FC48-F40F2D5D067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725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7F1DC-004C-87C7-B2A0-8AB86AF21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formats for cross section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5FBB3-67D3-4AE9-13C1-8CE482955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Cross section data used in computation is either used as:</a:t>
            </a:r>
          </a:p>
          <a:p>
            <a:r>
              <a:rPr lang="en-US" dirty="0"/>
              <a:t>“continuous energy”</a:t>
            </a:r>
          </a:p>
          <a:p>
            <a:r>
              <a:rPr lang="en-US" dirty="0"/>
              <a:t> “multigroup”</a:t>
            </a:r>
          </a:p>
        </p:txBody>
      </p:sp>
    </p:spTree>
    <p:extLst>
      <p:ext uri="{BB962C8B-B14F-4D97-AF65-F5344CB8AC3E}">
        <p14:creationId xmlns:p14="http://schemas.microsoft.com/office/powerpoint/2010/main" val="398045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601B3-2742-4324-E95B-7D5533C98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19B0D-9305-7C36-1C6A-CF9215B64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Energy Cross Sections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535B0-EB74-9051-6D70-22233E44D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Doing calculations with cross sections as a continuous function of energy</a:t>
            </a:r>
          </a:p>
          <a:p>
            <a:r>
              <a:rPr lang="en-US" dirty="0"/>
              <a:t>Interpolation still between points</a:t>
            </a:r>
          </a:p>
          <a:p>
            <a:pPr lvl="1"/>
            <a:r>
              <a:rPr lang="en-US" dirty="0"/>
              <a:t>Hundreds of isotopes included</a:t>
            </a:r>
          </a:p>
          <a:p>
            <a:pPr lvl="1"/>
            <a:r>
              <a:rPr lang="en-US" dirty="0"/>
              <a:t>Hundreds/thousands of energy data points. Linear interpolation between</a:t>
            </a:r>
          </a:p>
          <a:p>
            <a:r>
              <a:rPr lang="en-US" dirty="0"/>
              <a:t>Computationally extremely burdensome</a:t>
            </a:r>
          </a:p>
          <a:p>
            <a:r>
              <a:rPr lang="en-US" dirty="0"/>
              <a:t>Require tons of data</a:t>
            </a:r>
          </a:p>
        </p:txBody>
      </p:sp>
    </p:spTree>
    <p:extLst>
      <p:ext uri="{BB962C8B-B14F-4D97-AF65-F5344CB8AC3E}">
        <p14:creationId xmlns:p14="http://schemas.microsoft.com/office/powerpoint/2010/main" val="2839460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95903-F00D-BDBE-7F18-FBD4FC638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Multigroup Cross Sections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97006-A5BF-67A9-1A2F-378094D13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calculations for a certain energy range with cross section approximated as constant</a:t>
            </a:r>
          </a:p>
          <a:p>
            <a:r>
              <a:rPr lang="en-US" dirty="0"/>
              <a:t>Can be any number of “bins” from hundreds to a small handful</a:t>
            </a:r>
          </a:p>
          <a:p>
            <a:r>
              <a:rPr lang="en-US" dirty="0"/>
              <a:t>Makes the computation </a:t>
            </a:r>
            <a:r>
              <a:rPr lang="en-US" i="1" dirty="0"/>
              <a:t>much</a:t>
            </a:r>
            <a:r>
              <a:rPr lang="en-US" dirty="0"/>
              <a:t> faster</a:t>
            </a:r>
          </a:p>
          <a:p>
            <a:r>
              <a:rPr lang="en-US" dirty="0"/>
              <a:t>Slight tradeoff of computation and accuracy, </a:t>
            </a:r>
            <a:r>
              <a:rPr lang="en-US" i="1" dirty="0"/>
              <a:t>however,</a:t>
            </a:r>
            <a:r>
              <a:rPr lang="en-US" dirty="0"/>
              <a:t> they can be constructed very well as to not lose much in terms of accuracy</a:t>
            </a:r>
          </a:p>
          <a:p>
            <a:r>
              <a:rPr lang="en-US" dirty="0"/>
              <a:t>Allows us to use deterministic codes for neutron transport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433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6FB7B-9445-864A-ABE2-4DAFF2CA4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2B333-4CD5-DD51-297A-C0EE34BA9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Multigroup Cross sections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6C388-98F5-F254-2233-DDF80A50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850403"/>
            <a:ext cx="4296809" cy="4050792"/>
          </a:xfrm>
        </p:spPr>
        <p:txBody>
          <a:bodyPr/>
          <a:lstStyle/>
          <a:p>
            <a:r>
              <a:rPr lang="en-US" dirty="0"/>
              <a:t>Constant cross sections across energy bins</a:t>
            </a:r>
          </a:p>
          <a:p>
            <a:r>
              <a:rPr lang="en-US" dirty="0"/>
              <a:t>Most neutronic codes run with multigroup cross section data</a:t>
            </a:r>
          </a:p>
          <a:p>
            <a:r>
              <a:rPr lang="en-US" dirty="0"/>
              <a:t>Monte Carlo can run with either MG (multi group) or CE (continuous energy) cross section data</a:t>
            </a:r>
          </a:p>
          <a:p>
            <a:r>
              <a:rPr lang="en-US" dirty="0"/>
              <a:t>Monte Carlo can also be used to generate MG cross section data</a:t>
            </a:r>
          </a:p>
        </p:txBody>
      </p:sp>
      <p:pic>
        <p:nvPicPr>
          <p:cNvPr id="2052" name="Picture 4" descr="No description has been provided for this image">
            <a:extLst>
              <a:ext uri="{FF2B5EF4-FFF2-40B4-BE49-F238E27FC236}">
                <a16:creationId xmlns:a16="http://schemas.microsoft.com/office/drawing/2014/main" id="{44E8F856-ECC8-835D-3F3E-2EA05C70D6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6980" y="1698171"/>
            <a:ext cx="5335172" cy="3872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367F2E-FDD7-4AB2-3B63-9F4C8BAA5036}"/>
              </a:ext>
            </a:extLst>
          </p:cNvPr>
          <p:cNvSpPr txBox="1"/>
          <p:nvPr/>
        </p:nvSpPr>
        <p:spPr>
          <a:xfrm>
            <a:off x="6096000" y="5570698"/>
            <a:ext cx="55517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linkClick r:id="rId3"/>
              </a:rPr>
              <a:t>https://github.com/openmc-dev/openmc/wiki/Example-Jupyter-Notebooks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&gt;&gt;</a:t>
            </a:r>
            <a:r>
              <a:rPr lang="en-US" sz="1200" u="sng" dirty="0">
                <a:hlinkClick r:id="rId4"/>
              </a:rPr>
              <a:t>Multigroup Cross Section Generation Part II: Advanced Features</a:t>
            </a:r>
            <a:endParaRPr lang="en-US" sz="1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452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5AEB3-6782-3FCF-6B5A-4F809E55D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Multigroup Cross section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0F80A5-3296-BFE7-BE64-66F886139F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9848" y="4604489"/>
                <a:ext cx="10058400" cy="190516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en-US" dirty="0"/>
                  <a:t>multigroup (flux-weighted average) macroscopic cross section for group </a:t>
                </a:r>
                <a:r>
                  <a:rPr lang="en-US" i="1" dirty="0"/>
                  <a:t>g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>
                        <a:latin typeface="Cambria Math" panose="02040503050406030204" pitchFamily="18" charset="0"/>
                      </a:rPr>
                      <m:t>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ar-AE" dirty="0"/>
                  <a:t>= </a:t>
                </a:r>
                <a:r>
                  <a:rPr lang="en-US" dirty="0"/>
                  <a:t>energy-dependent cross section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ar-AE" dirty="0"/>
                  <a:t>= </a:t>
                </a:r>
                <a:r>
                  <a:rPr lang="en-US" dirty="0"/>
                  <a:t>energy-dependent neutron flux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en-US" dirty="0"/>
                  <a:t>upper and lower energy boundaries of group </a:t>
                </a:r>
                <a:r>
                  <a:rPr lang="en-US" i="1" dirty="0"/>
                  <a:t>g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0F80A5-3296-BFE7-BE64-66F886139F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9848" y="4604489"/>
                <a:ext cx="10058400" cy="1905168"/>
              </a:xfrm>
              <a:blipFill>
                <a:blip r:embed="rId2"/>
                <a:stretch>
                  <a:fillRect l="-303" t="-2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BD5380A6-6500-75DA-EE6C-16F45D11D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3048" y="1634966"/>
            <a:ext cx="8145903" cy="296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4239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FE689-5A3E-932F-4781-9AE765178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Thermal Scattering Laws (TSL</a:t>
            </a:r>
            <a:r>
              <a:rPr lang="en-US" sz="3600" dirty="0"/>
              <a:t>s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F97C1-508D-E9D6-C32C-FB7549E9B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7"/>
            <a:ext cx="10058400" cy="4616849"/>
          </a:xfrm>
        </p:spPr>
        <p:txBody>
          <a:bodyPr>
            <a:normAutofit/>
          </a:bodyPr>
          <a:lstStyle/>
          <a:p>
            <a:r>
              <a:rPr lang="en-US" dirty="0"/>
              <a:t>Thermal (low energy end of spectrum) interacts with a bond or a lattice instead of an individual atom (</a:t>
            </a:r>
            <a:r>
              <a:rPr lang="en-US" dirty="0" err="1"/>
              <a:t>ie</a:t>
            </a:r>
            <a:r>
              <a:rPr lang="en-US" dirty="0"/>
              <a:t> an H-O bond in water)</a:t>
            </a:r>
          </a:p>
          <a:p>
            <a:r>
              <a:rPr lang="en-US" dirty="0"/>
              <a:t>(Also called S(</a:t>
            </a:r>
            <a:r>
              <a:rPr lang="el-GR" dirty="0"/>
              <a:t>α, β</a:t>
            </a:r>
            <a:r>
              <a:rPr lang="en-US" dirty="0"/>
              <a:t>) tables)</a:t>
            </a:r>
          </a:p>
          <a:p>
            <a:r>
              <a:rPr lang="en-US" dirty="0" err="1"/>
              <a:t>ie</a:t>
            </a:r>
            <a:r>
              <a:rPr lang="en-US" dirty="0"/>
              <a:t>. In order to simulate water in our code, we need to not only specify how many H atoms and how many O atoms are present, but we need to also specify that the O and H atoms are bonded.</a:t>
            </a:r>
          </a:p>
          <a:p>
            <a:r>
              <a:rPr lang="en-US" dirty="0"/>
              <a:t>Examples of TSLs that can be applied in OpenMC</a:t>
            </a:r>
          </a:p>
          <a:p>
            <a:pPr lvl="1"/>
            <a:r>
              <a:rPr lang="en-US" dirty="0"/>
              <a:t>‘c_H_in_H2O” (continuous energy, H in H2O)</a:t>
            </a:r>
          </a:p>
          <a:p>
            <a:pPr lvl="1"/>
            <a:r>
              <a:rPr lang="en-US" dirty="0"/>
              <a:t>“c_D_in_D2O” (deuterium in heavy water)</a:t>
            </a:r>
          </a:p>
          <a:p>
            <a:pPr lvl="1"/>
            <a:r>
              <a:rPr lang="en-US" dirty="0"/>
              <a:t>“</a:t>
            </a:r>
            <a:r>
              <a:rPr lang="en-US" dirty="0" err="1"/>
              <a:t>c_C_in_graphite</a:t>
            </a:r>
            <a:r>
              <a:rPr lang="en-US" dirty="0"/>
              <a:t>” (carbon in graphite)</a:t>
            </a:r>
          </a:p>
          <a:p>
            <a:pPr lvl="1"/>
            <a:r>
              <a:rPr lang="en-US" dirty="0"/>
              <a:t>“</a:t>
            </a:r>
            <a:r>
              <a:rPr lang="en-US" dirty="0" err="1"/>
              <a:t>c_Be_in_BeO</a:t>
            </a:r>
            <a:r>
              <a:rPr lang="en-US" dirty="0"/>
              <a:t>” (Beryllium in Beryllium Oxide)</a:t>
            </a:r>
          </a:p>
          <a:p>
            <a:pPr lvl="1"/>
            <a:r>
              <a:rPr lang="en-US" dirty="0"/>
              <a:t>"</a:t>
            </a:r>
            <a:r>
              <a:rPr lang="en-US" dirty="0" err="1"/>
              <a:t>c_O_in_BeO</a:t>
            </a:r>
            <a:r>
              <a:rPr lang="en-US" dirty="0"/>
              <a:t>“ (Oxygen in Beryllium Oxide)</a:t>
            </a:r>
          </a:p>
          <a:p>
            <a:pPr lvl="1"/>
            <a:r>
              <a:rPr lang="en-US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29638943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6504A-0BDF-D342-EC46-29AF43976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81F67-2EBB-B944-1947-E76F90A79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Skills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B40F85-F664-C453-5898-4C16CEB611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 overview here, and then transition to the </a:t>
            </a:r>
            <a:r>
              <a:rPr lang="en-US" dirty="0" err="1"/>
              <a:t>Jupyter</a:t>
            </a:r>
            <a:r>
              <a:rPr lang="en-US" dirty="0"/>
              <a:t> Notebook</a:t>
            </a:r>
          </a:p>
        </p:txBody>
      </p:sp>
    </p:spTree>
    <p:extLst>
      <p:ext uri="{BB962C8B-B14F-4D97-AF65-F5344CB8AC3E}">
        <p14:creationId xmlns:p14="http://schemas.microsoft.com/office/powerpoint/2010/main" val="13071296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66097-F093-0FF6-3158-0EA7904A8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803E2-5F80-6449-E607-E802AD625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Universes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922A0-95AE-E8F8-97E1-F43EE950B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cells (to be run) must be put in a universe for the code to run</a:t>
            </a:r>
          </a:p>
          <a:p>
            <a:r>
              <a:rPr lang="en-US" dirty="0"/>
              <a:t>A sub-universe can be created with parameters, and that universe could be applied as a fill to a cell (we will not be doing this for now)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2155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17E1B-74E6-A0D2-F362-35368ED62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32048-493A-6D38-39CB-C5BC4B8874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10058400" cy="4486222"/>
          </a:xfrm>
        </p:spPr>
        <p:txBody>
          <a:bodyPr>
            <a:normAutofit/>
          </a:bodyPr>
          <a:lstStyle/>
          <a:p>
            <a:r>
              <a:rPr lang="en-US" dirty="0"/>
              <a:t>Required components of settings</a:t>
            </a:r>
          </a:p>
          <a:p>
            <a:pPr lvl="1"/>
            <a:r>
              <a:rPr lang="en-US" dirty="0" err="1"/>
              <a:t>run_mode</a:t>
            </a:r>
            <a:r>
              <a:rPr lang="en-US" dirty="0"/>
              <a:t> ( “eigenvalue” calculates </a:t>
            </a:r>
            <a:r>
              <a:rPr lang="en-US" dirty="0" err="1"/>
              <a:t>keff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particles</a:t>
            </a:r>
          </a:p>
          <a:p>
            <a:pPr lvl="1"/>
            <a:r>
              <a:rPr lang="en-US" dirty="0"/>
              <a:t>batches (cycles)</a:t>
            </a:r>
          </a:p>
          <a:p>
            <a:pPr lvl="1"/>
            <a:r>
              <a:rPr lang="en-US" dirty="0"/>
              <a:t>inactive cycles</a:t>
            </a:r>
          </a:p>
          <a:p>
            <a:pPr lvl="1"/>
            <a:r>
              <a:rPr lang="en-US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15016255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A58E2-2A39-336A-B60A-E9D84F122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Export to xml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40167-DB9B-6879-3F5A-D0244630E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OpenMC reads your code and creates xml files</a:t>
            </a:r>
          </a:p>
          <a:p>
            <a:r>
              <a:rPr lang="en-US" dirty="0"/>
              <a:t>Required xml files:</a:t>
            </a:r>
          </a:p>
          <a:p>
            <a:pPr lvl="1"/>
            <a:r>
              <a:rPr lang="en-US" dirty="0"/>
              <a:t>Geometry</a:t>
            </a:r>
          </a:p>
          <a:p>
            <a:pPr lvl="1"/>
            <a:r>
              <a:rPr lang="en-US" dirty="0"/>
              <a:t>Materials</a:t>
            </a:r>
          </a:p>
          <a:p>
            <a:pPr lvl="1"/>
            <a:r>
              <a:rPr lang="en-US" dirty="0"/>
              <a:t>Settings</a:t>
            </a:r>
          </a:p>
          <a:p>
            <a:r>
              <a:rPr lang="en-US" dirty="0"/>
              <a:t>Optional xml files:</a:t>
            </a:r>
          </a:p>
          <a:p>
            <a:pPr lvl="1"/>
            <a:r>
              <a:rPr lang="en-US" dirty="0"/>
              <a:t>Tallies</a:t>
            </a:r>
          </a:p>
          <a:p>
            <a:pPr lvl="1"/>
            <a:r>
              <a:rPr lang="en-US" dirty="0"/>
              <a:t>Plots</a:t>
            </a:r>
          </a:p>
          <a:p>
            <a:pPr lvl="1"/>
            <a:r>
              <a:rPr lang="en-US" dirty="0"/>
              <a:t>(a couple others we won’t use)</a:t>
            </a:r>
          </a:p>
          <a:p>
            <a:r>
              <a:rPr lang="en-US" dirty="0"/>
              <a:t>You specify what gets put in the XML file with Python, then OpenMC creates those files</a:t>
            </a:r>
          </a:p>
          <a:p>
            <a:r>
              <a:rPr lang="en-US" dirty="0"/>
              <a:t>When OpenMC runs, it runs based on what’s in the XMLs</a:t>
            </a:r>
          </a:p>
        </p:txBody>
      </p:sp>
    </p:spTree>
    <p:extLst>
      <p:ext uri="{BB962C8B-B14F-4D97-AF65-F5344CB8AC3E}">
        <p14:creationId xmlns:p14="http://schemas.microsoft.com/office/powerpoint/2010/main" val="3502300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DAE07-2A32-0604-0A41-540F23EFE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Openmc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8D825-678E-A199-F4B7-F5ABCB346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python just use the function </a:t>
            </a:r>
            <a:r>
              <a:rPr lang="en-US" dirty="0" err="1"/>
              <a:t>openmc.run</a:t>
            </a:r>
            <a:r>
              <a:rPr lang="en-US" dirty="0"/>
              <a:t>()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 running from the terminal, there should also be an OpenMC executable that you can call to run the xml files in your directory</a:t>
            </a:r>
          </a:p>
        </p:txBody>
      </p:sp>
    </p:spTree>
    <p:extLst>
      <p:ext uri="{BB962C8B-B14F-4D97-AF65-F5344CB8AC3E}">
        <p14:creationId xmlns:p14="http://schemas.microsoft.com/office/powerpoint/2010/main" val="42669823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F3063-09B3-BCE9-F4DB-52E080F8E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Pincell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CE1DD-4D59-9EAC-A9C4-20D3EC241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5548666" cy="4050792"/>
          </a:xfrm>
        </p:spPr>
        <p:txBody>
          <a:bodyPr/>
          <a:lstStyle/>
          <a:p>
            <a:r>
              <a:rPr lang="en-US" dirty="0"/>
              <a:t>A pincell consists of:</a:t>
            </a:r>
          </a:p>
          <a:p>
            <a:pPr lvl="1"/>
            <a:r>
              <a:rPr lang="en-US" dirty="0"/>
              <a:t>Fuel in the center</a:t>
            </a:r>
          </a:p>
          <a:p>
            <a:pPr lvl="1"/>
            <a:r>
              <a:rPr lang="en-US" dirty="0"/>
              <a:t>Sometimes a very small air gap</a:t>
            </a:r>
          </a:p>
          <a:p>
            <a:pPr lvl="1"/>
            <a:r>
              <a:rPr lang="en-US" dirty="0"/>
              <a:t>Cladding around the fuel</a:t>
            </a:r>
          </a:p>
          <a:p>
            <a:pPr lvl="1"/>
            <a:r>
              <a:rPr lang="en-US" dirty="0"/>
              <a:t>Water outside (moderator)</a:t>
            </a:r>
          </a:p>
          <a:p>
            <a:r>
              <a:rPr lang="en-US" dirty="0"/>
              <a:t>It’s often modeled as an infinite array (reflective boundary conditions)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824D85-B64B-5117-714D-559CAD4EA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2170" y="2120622"/>
            <a:ext cx="4089981" cy="405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2536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B508C-F447-0F81-9C23-720AF1E63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23144-AD89-99CF-4C41-127E757B3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 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1FBEF4-BFA5-A161-F7FE-ACBAACD215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2710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FC1D0-E337-F1F6-2522-3BD7730A5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 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0B6BC-7FCF-B935-0549-D05B765D00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 to the crash course openmc directory that you cloned from the </a:t>
            </a:r>
            <a:r>
              <a:rPr lang="en-US" dirty="0" err="1"/>
              <a:t>github</a:t>
            </a:r>
            <a:r>
              <a:rPr lang="en-US" dirty="0"/>
              <a:t> and type run the command “git pull” to get the most up to date version of code</a:t>
            </a:r>
          </a:p>
          <a:p>
            <a:r>
              <a:rPr lang="en-US" dirty="0"/>
              <a:t>Navigate to the week 3 folder and open week3_workbook.ipynb</a:t>
            </a:r>
          </a:p>
          <a:p>
            <a:r>
              <a:rPr lang="en-US" dirty="0"/>
              <a:t>We’ll briefly walk through the notebook as a class</a:t>
            </a:r>
          </a:p>
          <a:p>
            <a:r>
              <a:rPr lang="en-US" dirty="0"/>
              <a:t>After that open </a:t>
            </a:r>
            <a:r>
              <a:rPr lang="en-US" dirty="0" err="1"/>
              <a:t>pincell_empty.ipynb</a:t>
            </a:r>
            <a:r>
              <a:rPr lang="en-US" dirty="0"/>
              <a:t> and follow the instructions to create a pincell</a:t>
            </a:r>
          </a:p>
          <a:p>
            <a:r>
              <a:rPr lang="en-US" dirty="0"/>
              <a:t>Some guidelines:</a:t>
            </a:r>
          </a:p>
          <a:p>
            <a:pPr lvl="1"/>
            <a:r>
              <a:rPr lang="en-US" dirty="0"/>
              <a:t>Do your best to not use the code in the </a:t>
            </a:r>
            <a:r>
              <a:rPr lang="en-US" dirty="0" err="1"/>
              <a:t>pincell_completed.ipynb</a:t>
            </a:r>
            <a:endParaRPr lang="en-US" dirty="0"/>
          </a:p>
          <a:p>
            <a:pPr lvl="1"/>
            <a:r>
              <a:rPr lang="en-US" dirty="0"/>
              <a:t>Avoid using AI at least while you’re learning how it works</a:t>
            </a:r>
          </a:p>
          <a:p>
            <a:pPr lvl="1"/>
            <a:r>
              <a:rPr lang="en-US" dirty="0"/>
              <a:t>Try to use week2_workbook.ipynb and week3_workbook.ipynb for code help</a:t>
            </a:r>
          </a:p>
          <a:p>
            <a:pPr lvl="1"/>
            <a:r>
              <a:rPr lang="en-US" dirty="0"/>
              <a:t>Also for syntax and code help refer to OpenMC documentation under users guide (</a:t>
            </a:r>
            <a:r>
              <a:rPr lang="en-US" dirty="0">
                <a:hlinkClick r:id="rId2"/>
              </a:rPr>
              <a:t>https://docs.openmc.org/en/stable/usersguide/index.html</a:t>
            </a:r>
            <a:r>
              <a:rPr lang="en-US" dirty="0"/>
              <a:t>) it’s very well done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7941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15310</TotalTime>
  <Words>978</Words>
  <Application>Microsoft Office PowerPoint</Application>
  <PresentationFormat>Widescreen</PresentationFormat>
  <Paragraphs>123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Cambria Math</vt:lpstr>
      <vt:lpstr>Rockwell</vt:lpstr>
      <vt:lpstr>Rockwell Condensed</vt:lpstr>
      <vt:lpstr>Wingdings</vt:lpstr>
      <vt:lpstr>Wood Type</vt:lpstr>
      <vt:lpstr>OpenMC is cool</vt:lpstr>
      <vt:lpstr>Review From Week 2</vt:lpstr>
      <vt:lpstr>Goals today</vt:lpstr>
      <vt:lpstr>Theory</vt:lpstr>
      <vt:lpstr>Cross Sections</vt:lpstr>
      <vt:lpstr>Cross Section data</vt:lpstr>
      <vt:lpstr>Two formats for cross section data</vt:lpstr>
      <vt:lpstr>Continuous Energy Cross Sections</vt:lpstr>
      <vt:lpstr>Multigroup Cross Sections</vt:lpstr>
      <vt:lpstr>Multigroup Cross sections</vt:lpstr>
      <vt:lpstr>Multigroup Cross section Definition</vt:lpstr>
      <vt:lpstr>Thermal Scattering Laws (TSLs)</vt:lpstr>
      <vt:lpstr>Skills</vt:lpstr>
      <vt:lpstr>Universes</vt:lpstr>
      <vt:lpstr>Settings</vt:lpstr>
      <vt:lpstr>Export to xml</vt:lpstr>
      <vt:lpstr>Running Openmc</vt:lpstr>
      <vt:lpstr>Pincell Creation</vt:lpstr>
      <vt:lpstr>Apply it</vt:lpstr>
      <vt:lpstr>Apply 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Madsen</dc:creator>
  <cp:lastModifiedBy>William Madsen</cp:lastModifiedBy>
  <cp:revision>122</cp:revision>
  <dcterms:created xsi:type="dcterms:W3CDTF">2025-10-18T06:11:07Z</dcterms:created>
  <dcterms:modified xsi:type="dcterms:W3CDTF">2025-11-16T09:09:18Z</dcterms:modified>
</cp:coreProperties>
</file>