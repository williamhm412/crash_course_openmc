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58" r:id="rId3"/>
    <p:sldId id="277" r:id="rId4"/>
    <p:sldId id="272" r:id="rId5"/>
    <p:sldId id="273" r:id="rId6"/>
    <p:sldId id="285" r:id="rId7"/>
    <p:sldId id="286" r:id="rId8"/>
    <p:sldId id="274" r:id="rId9"/>
    <p:sldId id="276" r:id="rId10"/>
    <p:sldId id="275" r:id="rId11"/>
    <p:sldId id="278" r:id="rId12"/>
    <p:sldId id="279" r:id="rId13"/>
    <p:sldId id="280" r:id="rId14"/>
    <p:sldId id="284" r:id="rId15"/>
    <p:sldId id="283" r:id="rId16"/>
    <p:sldId id="281" r:id="rId17"/>
    <p:sldId id="28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9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05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9347157-CD57-42FD-AB37-70B70B85F1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85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45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40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46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70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09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11/4/2025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783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7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47157-CD57-42FD-AB37-70B70B85F1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378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9347157-CD57-42FD-AB37-70B70B85F1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0179A0B-E4AA-4B28-A6B7-341900B6B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39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nstructive_solid_geometry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DFA4-8FE5-63C4-598D-6DFE3B492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DDC8B-7B76-5276-1DE2-F974BA9E2D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OpenMC is cool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F3B879-1CB4-8E49-6E94-654C7403B1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2 – Background</a:t>
            </a:r>
          </a:p>
        </p:txBody>
      </p:sp>
    </p:spTree>
    <p:extLst>
      <p:ext uri="{BB962C8B-B14F-4D97-AF65-F5344CB8AC3E}">
        <p14:creationId xmlns:p14="http://schemas.microsoft.com/office/powerpoint/2010/main" val="3316423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0A201-1398-99CA-A290-AC4C8A7AB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/>
          <a:lstStyle/>
          <a:p>
            <a:r>
              <a:rPr lang="en-US" dirty="0"/>
              <a:t>Goals today (this is a lot to cover)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11C5-D32C-7830-E342-DA50D5AC6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02230"/>
            <a:ext cx="10058400" cy="5127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Theory</a:t>
            </a:r>
          </a:p>
          <a:p>
            <a:r>
              <a:rPr lang="en-US" dirty="0"/>
              <a:t>CSG (Constructive Solid Geometry)</a:t>
            </a:r>
          </a:p>
          <a:p>
            <a:r>
              <a:rPr lang="en-US" dirty="0"/>
              <a:t>Particle Transport (surface tracking, random numbers, etc.)</a:t>
            </a:r>
          </a:p>
          <a:p>
            <a:r>
              <a:rPr lang="en-US" dirty="0"/>
              <a:t>Cycles (active/inactive)</a:t>
            </a:r>
          </a:p>
          <a:p>
            <a:r>
              <a:rPr lang="en-US" dirty="0"/>
              <a:t>Shannon Entropy</a:t>
            </a:r>
          </a:p>
          <a:p>
            <a:r>
              <a:rPr lang="en-US" dirty="0" err="1"/>
              <a:t>keff</a:t>
            </a:r>
            <a:r>
              <a:rPr lang="en-US" dirty="0"/>
              <a:t> calculations</a:t>
            </a:r>
          </a:p>
          <a:p>
            <a:pPr marL="0" indent="0">
              <a:buNone/>
            </a:pPr>
            <a:r>
              <a:rPr lang="en-US" b="1" dirty="0"/>
              <a:t>Skills</a:t>
            </a:r>
          </a:p>
          <a:p>
            <a:r>
              <a:rPr lang="en-US" dirty="0"/>
              <a:t>Materials</a:t>
            </a:r>
          </a:p>
          <a:p>
            <a:r>
              <a:rPr lang="en-US" dirty="0"/>
              <a:t>Surfaces</a:t>
            </a:r>
          </a:p>
          <a:p>
            <a:r>
              <a:rPr lang="en-US" dirty="0"/>
              <a:t>Cells</a:t>
            </a:r>
          </a:p>
          <a:p>
            <a:r>
              <a:rPr lang="en-US" dirty="0"/>
              <a:t>Boundary Conditions</a:t>
            </a:r>
          </a:p>
          <a:p>
            <a:r>
              <a:rPr lang="en-US" dirty="0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3478548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5E29-EDBA-C8FC-D499-64500E385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92A94-408F-3F52-DB61-75F5EEB1D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stop and ask question along the way</a:t>
            </a:r>
          </a:p>
        </p:txBody>
      </p:sp>
    </p:spTree>
    <p:extLst>
      <p:ext uri="{BB962C8B-B14F-4D97-AF65-F5344CB8AC3E}">
        <p14:creationId xmlns:p14="http://schemas.microsoft.com/office/powerpoint/2010/main" val="809945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315D-9D9D-3B0D-AE9B-197735F22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CSG (Constructive Solid Geometry)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940C6B-2F78-EA3E-AA01-7B820065488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6360" y="2093976"/>
            <a:ext cx="314325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8BE23B-B450-2D4E-46C8-7B4B35A716CD}"/>
              </a:ext>
            </a:extLst>
          </p:cNvPr>
          <p:cNvSpPr txBox="1"/>
          <p:nvPr/>
        </p:nvSpPr>
        <p:spPr>
          <a:xfrm>
            <a:off x="7750629" y="5290457"/>
            <a:ext cx="3494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https://en.wikipedia.org/wiki/Constructive_solid_geometry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0D6A80-47B1-B1A7-B40E-A47DEAC1F692}"/>
              </a:ext>
            </a:extLst>
          </p:cNvPr>
          <p:cNvSpPr txBox="1">
            <a:spLocks/>
          </p:cNvSpPr>
          <p:nvPr/>
        </p:nvSpPr>
        <p:spPr>
          <a:xfrm>
            <a:off x="1069848" y="2121408"/>
            <a:ext cx="4928181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creation of complex shapes using the intersection of simple shapes</a:t>
            </a:r>
          </a:p>
          <a:p>
            <a:r>
              <a:rPr lang="en-US" dirty="0"/>
              <a:t>We use second order surfaces</a:t>
            </a:r>
          </a:p>
          <a:p>
            <a:r>
              <a:rPr lang="en-US" dirty="0"/>
              <a:t>This gives Monte Carlo Calculations a “general geometry”</a:t>
            </a:r>
          </a:p>
        </p:txBody>
      </p:sp>
    </p:spTree>
    <p:extLst>
      <p:ext uri="{BB962C8B-B14F-4D97-AF65-F5344CB8AC3E}">
        <p14:creationId xmlns:p14="http://schemas.microsoft.com/office/powerpoint/2010/main" val="1782034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6C61B-91CD-FE4F-F53C-FEF87493F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Particle Transport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2F244-A901-6F33-6B23-6151FE7BB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are simulation neutron particles</a:t>
            </a:r>
          </a:p>
          <a:p>
            <a:r>
              <a:rPr lang="en-US" dirty="0"/>
              <a:t>A particle is simulated traveling through the space you set up (</a:t>
            </a:r>
            <a:r>
              <a:rPr lang="en-US" dirty="0" err="1"/>
              <a:t>ie</a:t>
            </a:r>
            <a:r>
              <a:rPr lang="en-US" dirty="0"/>
              <a:t>. a reactor)</a:t>
            </a:r>
          </a:p>
          <a:p>
            <a:r>
              <a:rPr lang="en-US" dirty="0"/>
              <a:t>Every isotope has a “cross section” which relates to the likelihood of certain interactions occurring</a:t>
            </a:r>
          </a:p>
          <a:p>
            <a:r>
              <a:rPr lang="en-US" dirty="0"/>
              <a:t>Our neutron interactions include things such as elastic scattering, inelastic scattering, absorption, fission,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Each interaction has a cross section, and the total cross section is the sum of all the individual cross sections</a:t>
            </a:r>
          </a:p>
          <a:p>
            <a:r>
              <a:rPr lang="en-US" dirty="0"/>
              <a:t>Microscopic cross sections are in units of area (cm^2)</a:t>
            </a:r>
          </a:p>
          <a:p>
            <a:r>
              <a:rPr lang="en-US" dirty="0"/>
              <a:t>Macroscopic cross section is the microscopic cross section times the amount of atoms / volume </a:t>
            </a:r>
            <a:r>
              <a:rPr lang="en-US" dirty="0">
                <a:sym typeface="Wingdings" panose="05000000000000000000" pitchFamily="2" charset="2"/>
              </a:rPr>
              <a:t>and it has units of 1 / cm</a:t>
            </a:r>
          </a:p>
        </p:txBody>
      </p:sp>
    </p:spTree>
    <p:extLst>
      <p:ext uri="{BB962C8B-B14F-4D97-AF65-F5344CB8AC3E}">
        <p14:creationId xmlns:p14="http://schemas.microsoft.com/office/powerpoint/2010/main" val="426797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C9CAC-2B48-D94D-3D99-D2A283F46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69675-38FC-2C67-9B0D-FA23F1A02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Particle Transport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CA17D-15BC-AB30-AFC4-744C00C42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2121408"/>
            <a:ext cx="5592209" cy="4050792"/>
          </a:xfrm>
        </p:spPr>
        <p:txBody>
          <a:bodyPr>
            <a:normAutofit/>
          </a:bodyPr>
          <a:lstStyle/>
          <a:p>
            <a:r>
              <a:rPr lang="en-US" dirty="0"/>
              <a:t>Macroscopic cross section is the microscopic cross section times the amount of atoms / volume </a:t>
            </a:r>
            <a:r>
              <a:rPr lang="en-US" dirty="0">
                <a:sym typeface="Wingdings" panose="05000000000000000000" pitchFamily="2" charset="2"/>
              </a:rPr>
              <a:t>and it has units of 1 / cm. Note cross sections are a function of the neutron’s energy (velocity)</a:t>
            </a:r>
          </a:p>
          <a:p>
            <a:r>
              <a:rPr lang="en-US" dirty="0">
                <a:sym typeface="Wingdings" panose="05000000000000000000" pitchFamily="2" charset="2"/>
              </a:rPr>
              <a:t>When we know the macroscopic cross section, we can figure out how far a particle will travel on average before an interaction.</a:t>
            </a:r>
          </a:p>
          <a:p>
            <a:r>
              <a:rPr lang="en-US" dirty="0">
                <a:sym typeface="Wingdings" panose="05000000000000000000" pitchFamily="2" charset="2"/>
              </a:rPr>
              <a:t>Using the cross section data, we can create a relationship between the distance to collision (l) and the cross section where </a:t>
            </a:r>
            <a:r>
              <a:rPr lang="el-GR" b="1" dirty="0"/>
              <a:t>ξ</a:t>
            </a:r>
            <a:r>
              <a:rPr lang="en-US" b="1" dirty="0"/>
              <a:t> </a:t>
            </a:r>
            <a:r>
              <a:rPr lang="en-US" dirty="0"/>
              <a:t>is a random number between 0 and 1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827B51-C904-B8F4-B3D6-F17916352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62" y="2378437"/>
            <a:ext cx="4467849" cy="12955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D925F9-69E8-7803-B3E4-6C767C493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125" y="3958479"/>
            <a:ext cx="4249431" cy="210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9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D5D88-76FF-3A6F-9035-FC25F4CB3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5963F-17B5-4F1A-09E2-0D0D14BC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Particle Transport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D5CD7-D259-16E2-60F0-8600F50E4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135966" cy="4415588"/>
          </a:xfrm>
        </p:spPr>
        <p:txBody>
          <a:bodyPr>
            <a:normAutofit/>
          </a:bodyPr>
          <a:lstStyle/>
          <a:p>
            <a:r>
              <a:rPr lang="en-US" dirty="0"/>
              <a:t>To begin, particles are set with initial location, directions, and energy.</a:t>
            </a:r>
          </a:p>
          <a:p>
            <a:r>
              <a:rPr lang="en-US" dirty="0"/>
              <a:t>Based on the material the particle is in, a path length is calculated.</a:t>
            </a:r>
          </a:p>
          <a:p>
            <a:r>
              <a:rPr lang="en-US" dirty="0"/>
              <a:t>At the end of the path length, if the particle has not crossed a surface, then an interaction occurs. Which particular interaction depends on how big the cross sections are for each particular interaction (</a:t>
            </a:r>
            <a:r>
              <a:rPr lang="en-US" dirty="0" err="1"/>
              <a:t>ie</a:t>
            </a:r>
            <a:r>
              <a:rPr lang="en-US" dirty="0"/>
              <a:t>. fission, cross section, absorption, scattering, etc.). The data for cross section magnitude for each isotope is in the fundamental nuclear cross section data that we downloaded in week 1</a:t>
            </a:r>
          </a:p>
          <a:p>
            <a:r>
              <a:rPr lang="en-US" dirty="0">
                <a:sym typeface="Wingdings" panose="05000000000000000000" pitchFamily="2" charset="2"/>
              </a:rPr>
              <a:t>After an interaction occurs, a tally is made to record what happened. If the particle wasn’t destroyed (</a:t>
            </a:r>
            <a:r>
              <a:rPr lang="en-US" dirty="0" err="1">
                <a:sym typeface="Wingdings" panose="05000000000000000000" pitchFamily="2" charset="2"/>
              </a:rPr>
              <a:t>ie</a:t>
            </a:r>
            <a:r>
              <a:rPr lang="en-US" dirty="0">
                <a:sym typeface="Wingdings" panose="05000000000000000000" pitchFamily="2" charset="2"/>
              </a:rPr>
              <a:t>. an absorption interaction occurred), then a new direction, energy, and path length are calculated, and the particle travels again. This is done until the particle is destroyed</a:t>
            </a:r>
          </a:p>
          <a:p>
            <a:r>
              <a:rPr lang="en-US" dirty="0">
                <a:sym typeface="Wingdings" panose="05000000000000000000" pitchFamily="2" charset="2"/>
              </a:rPr>
              <a:t>Millions of particles will be simulated, and the tallies will give information needed to calculate what is happening in the system.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7B1EB2-092D-9C8B-0107-FCD55825A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1004"/>
            <a:ext cx="2976214" cy="147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739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D64A-F9E9-5F46-C3D9-D4F898E5A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Cycles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05F6A-D18C-9941-A1FB-5A0E2EA51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“cycle” is the simulation of the lifetime of a number of particles.  Batch and generation are also terms used for cycle</a:t>
            </a:r>
          </a:p>
          <a:p>
            <a:r>
              <a:rPr lang="en-US" dirty="0"/>
              <a:t>When you set up the simulation, you will specify a number of cycles, and a number of particles per cycle.</a:t>
            </a:r>
          </a:p>
          <a:p>
            <a:r>
              <a:rPr lang="en-US" dirty="0"/>
              <a:t>Cycles exist because this is a “generational” process. When fissions occur, the location of fission sites is noted in the code, and the fission neutron is recorded (along with its energy, direction, and now a weight ) which contributes to the next generation/cycle</a:t>
            </a:r>
          </a:p>
          <a:p>
            <a:r>
              <a:rPr lang="en-US" dirty="0"/>
              <a:t>For example, when you run a simulation, you might use 100 active cycles and 1 million particles per cycle</a:t>
            </a:r>
          </a:p>
        </p:txBody>
      </p:sp>
    </p:spTree>
    <p:extLst>
      <p:ext uri="{BB962C8B-B14F-4D97-AF65-F5344CB8AC3E}">
        <p14:creationId xmlns:p14="http://schemas.microsoft.com/office/powerpoint/2010/main" val="1695831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A1C2-51AB-F453-959B-8C9797400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keff</a:t>
            </a:r>
            <a:r>
              <a:rPr lang="en-US" dirty="0"/>
              <a:t>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27F79-FD12-4117-4802-595EAC715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keff</a:t>
            </a:r>
            <a:r>
              <a:rPr lang="en-US" dirty="0"/>
              <a:t> value is essentially, how many neutrons per fission cause another fission.</a:t>
            </a:r>
          </a:p>
          <a:p>
            <a:pPr lvl="1"/>
            <a:r>
              <a:rPr lang="en-US" dirty="0" err="1"/>
              <a:t>keff</a:t>
            </a:r>
            <a:r>
              <a:rPr lang="en-US" dirty="0"/>
              <a:t> of 1 means a steady state chain reaction</a:t>
            </a:r>
          </a:p>
          <a:p>
            <a:pPr lvl="1"/>
            <a:r>
              <a:rPr lang="en-US" dirty="0" err="1"/>
              <a:t>keff</a:t>
            </a:r>
            <a:r>
              <a:rPr lang="en-US" dirty="0"/>
              <a:t> above 1 means an increase in the amount of neutrons over time</a:t>
            </a:r>
          </a:p>
          <a:p>
            <a:pPr lvl="1"/>
            <a:r>
              <a:rPr lang="en-US" dirty="0" err="1"/>
              <a:t>keff</a:t>
            </a:r>
            <a:r>
              <a:rPr lang="en-US" dirty="0"/>
              <a:t> below 1 means a decrease in neutrons until the chain reaction ends and no fissions occur</a:t>
            </a:r>
          </a:p>
          <a:p>
            <a:r>
              <a:rPr lang="en-US" dirty="0" err="1"/>
              <a:t>keff</a:t>
            </a:r>
            <a:r>
              <a:rPr lang="en-US" dirty="0"/>
              <a:t> is calculated using the Method of Successive Generations</a:t>
            </a:r>
          </a:p>
          <a:p>
            <a:r>
              <a:rPr lang="en-US" dirty="0"/>
              <a:t>It can be thought of as the number of particles in the a new generation / the number of particles in the previous generation</a:t>
            </a:r>
          </a:p>
          <a:p>
            <a:r>
              <a:rPr lang="en-US" dirty="0"/>
              <a:t>We run a number of generations, and the </a:t>
            </a:r>
            <a:r>
              <a:rPr lang="en-US" dirty="0" err="1"/>
              <a:t>keff</a:t>
            </a:r>
            <a:r>
              <a:rPr lang="en-US" dirty="0"/>
              <a:t> values converge to a value at some point, and we can take an average of the “good” </a:t>
            </a:r>
            <a:r>
              <a:rPr lang="en-US" dirty="0" err="1"/>
              <a:t>keff</a:t>
            </a:r>
            <a:r>
              <a:rPr lang="en-US" dirty="0"/>
              <a:t> values for our solution of what </a:t>
            </a:r>
            <a:r>
              <a:rPr lang="en-US" dirty="0" err="1"/>
              <a:t>keff</a:t>
            </a:r>
            <a:r>
              <a:rPr lang="en-US" dirty="0"/>
              <a:t> 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514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EA17-3E12-0D56-5D18-81AABCC6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Shannon Entropy &amp; Inactive Cycles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CE797-07CD-20B6-ACC6-26DE70333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18631"/>
            <a:ext cx="10058400" cy="5139369"/>
          </a:xfrm>
        </p:spPr>
        <p:txBody>
          <a:bodyPr>
            <a:normAutofit/>
          </a:bodyPr>
          <a:lstStyle/>
          <a:p>
            <a:r>
              <a:rPr lang="en-US" dirty="0"/>
              <a:t>I say “good” </a:t>
            </a:r>
            <a:r>
              <a:rPr lang="en-US" dirty="0" err="1"/>
              <a:t>keff</a:t>
            </a:r>
            <a:r>
              <a:rPr lang="en-US" dirty="0"/>
              <a:t> calculations, because as noted before, you have to have an initial position, energy, and direction for the particles, and whatever we guess for the initial conditions, we will be wrong.</a:t>
            </a:r>
          </a:p>
          <a:p>
            <a:r>
              <a:rPr lang="en-US" dirty="0"/>
              <a:t>Fortunately, we know that with each generation, the particles will spread out to reflect an accurate distribution, or in other words, the distribution of the particles will converge to the correct answer.</a:t>
            </a:r>
          </a:p>
          <a:p>
            <a:r>
              <a:rPr lang="en-US" dirty="0"/>
              <a:t>The way that we measure if our solution is “converged” is with Shannon Entropy which is really just a measure of how much the distribution of sites is changing</a:t>
            </a:r>
          </a:p>
          <a:p>
            <a:r>
              <a:rPr lang="en-US" dirty="0"/>
              <a:t>Once Shannon Entropy converges, we can be pretty confident that our </a:t>
            </a:r>
            <a:r>
              <a:rPr lang="en-US" dirty="0" err="1"/>
              <a:t>keff</a:t>
            </a:r>
            <a:r>
              <a:rPr lang="en-US" dirty="0"/>
              <a:t> values have converged</a:t>
            </a:r>
          </a:p>
          <a:p>
            <a:r>
              <a:rPr lang="en-US" dirty="0"/>
              <a:t>Inactive cycles are cycles that we run where the particles are simulated like norma, but the data doesn’t contribute to our final answer.</a:t>
            </a:r>
          </a:p>
          <a:p>
            <a:r>
              <a:rPr lang="en-US" dirty="0"/>
              <a:t>When running a simulation, you want to set enough inactive cycles for Shannon Entropy to converge. For example, you might run 50 inactive cycles, 100 active cycles, and 1 million particles per cycle.</a:t>
            </a:r>
          </a:p>
        </p:txBody>
      </p:sp>
    </p:spTree>
    <p:extLst>
      <p:ext uri="{BB962C8B-B14F-4D97-AF65-F5344CB8AC3E}">
        <p14:creationId xmlns:p14="http://schemas.microsoft.com/office/powerpoint/2010/main" val="936738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6504A-0BDF-D342-EC46-29AF43976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81F67-2EBB-B944-1947-E76F90A7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40F85-F664-C453-5898-4C16CEB61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overview here, and then transition to the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1307129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6097-F093-0FF6-3158-0EA7904A8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803E2-5F80-6449-E607-E802AD62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922A0-95AE-E8F8-97E1-F43EE950B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a material that is a combination of isotopes that can be applied to regions we specify in the code.</a:t>
            </a:r>
          </a:p>
        </p:txBody>
      </p:sp>
    </p:spTree>
    <p:extLst>
      <p:ext uri="{BB962C8B-B14F-4D97-AF65-F5344CB8AC3E}">
        <p14:creationId xmlns:p14="http://schemas.microsoft.com/office/powerpoint/2010/main" val="1969215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7E1B-74E6-A0D2-F362-35368ED62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Surfaces/Boundary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32048-493A-6D38-39CB-C5BC4B887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73659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way that we create regions in space in the code</a:t>
            </a:r>
          </a:p>
          <a:p>
            <a:r>
              <a:rPr lang="en-US" dirty="0"/>
              <a:t>Surfaces are 2</a:t>
            </a:r>
            <a:r>
              <a:rPr lang="en-US" baseline="30000" dirty="0"/>
              <a:t>nd</a:t>
            </a:r>
            <a:r>
              <a:rPr lang="en-US" dirty="0"/>
              <a:t> order 3D surfaces. Functions of x, y, and z</a:t>
            </a:r>
          </a:p>
          <a:p>
            <a:pPr lvl="1"/>
            <a:r>
              <a:rPr lang="en-US" dirty="0"/>
              <a:t>Spherical Surface Equation: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General Surface Equation: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A boundary condition instructs a particle what to do when it reaches the edge of a surface</a:t>
            </a:r>
          </a:p>
          <a:p>
            <a:pPr lvl="1"/>
            <a:r>
              <a:rPr lang="en-US" dirty="0"/>
              <a:t>Most surface boundary conditions are simply “transmission” which allows the particle through</a:t>
            </a:r>
          </a:p>
          <a:p>
            <a:pPr lvl="1"/>
            <a:r>
              <a:rPr lang="en-US" dirty="0"/>
              <a:t>Outside boundary conditions my be “vacuum” or “reflective” depending on what behavior you want to simulate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DCFE0-8467-118C-9BBE-3E027F245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974" y="3863775"/>
            <a:ext cx="3696216" cy="1086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252C53-C828-07CD-809C-328A641F6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974" y="3003544"/>
            <a:ext cx="3496163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625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3063-09B3-BCE9-F4DB-52E080F8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Half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CE1DD-4D59-9EAC-A9C4-20D3EC241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surface creates 2 half spaces</a:t>
            </a:r>
          </a:p>
          <a:p>
            <a:pPr lvl="1"/>
            <a:r>
              <a:rPr lang="en-US" dirty="0"/>
              <a:t>Ie. Spheres create a half space “inside” and “outside”</a:t>
            </a:r>
          </a:p>
          <a:p>
            <a:pPr lvl="1"/>
            <a:r>
              <a:rPr lang="en-US" dirty="0"/>
              <a:t>The + half space is where the surface equation evaluates to a + number (and the opposite is true for a – half space)</a:t>
            </a:r>
          </a:p>
        </p:txBody>
      </p:sp>
    </p:spTree>
    <p:extLst>
      <p:ext uri="{BB962C8B-B14F-4D97-AF65-F5344CB8AC3E}">
        <p14:creationId xmlns:p14="http://schemas.microsoft.com/office/powerpoint/2010/main" val="3671253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11BB4-6E5A-0791-F9C5-AE126CCA7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FD07B-371B-66F3-85AC-E81F50E56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A1A0A-95B5-0E26-872A-4F6E19DB6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region defined in space (either a half space or a combination of half spaces) that also has a defined material fill</a:t>
            </a:r>
          </a:p>
        </p:txBody>
      </p:sp>
    </p:spTree>
    <p:extLst>
      <p:ext uri="{BB962C8B-B14F-4D97-AF65-F5344CB8AC3E}">
        <p14:creationId xmlns:p14="http://schemas.microsoft.com/office/powerpoint/2010/main" val="3696355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81FF0-91B9-B6AA-0382-392750577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6FB10-523B-CB06-2F96-B82D5EA24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explained before, we must set a starting location, energy, direction, etc. for the particles in the simulation</a:t>
            </a:r>
          </a:p>
          <a:p>
            <a:r>
              <a:rPr lang="en-US" dirty="0"/>
              <a:t>Fortunately, for now, we can just make a really rough guess and be confident that after enough inactive cycles the distribution of particles through the space will be accurate</a:t>
            </a:r>
          </a:p>
          <a:p>
            <a:r>
              <a:rPr lang="en-US" dirty="0"/>
              <a:t>In this crash course openmc we’ll just be setting the source as a single point, usually in the center of the fissionable material</a:t>
            </a:r>
          </a:p>
        </p:txBody>
      </p:sp>
    </p:spTree>
    <p:extLst>
      <p:ext uri="{BB962C8B-B14F-4D97-AF65-F5344CB8AC3E}">
        <p14:creationId xmlns:p14="http://schemas.microsoft.com/office/powerpoint/2010/main" val="1372420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FC1D0-E337-F1F6-2522-3BD7730A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0B6BC-7FCF-B935-0549-D05B765D0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go to the crash course openmc directory that you cloned from the </a:t>
            </a:r>
            <a:r>
              <a:rPr lang="en-US" dirty="0" err="1"/>
              <a:t>github</a:t>
            </a:r>
            <a:r>
              <a:rPr lang="en-US" dirty="0"/>
              <a:t> and type run the command “git pull” to get the updated code I put there this week</a:t>
            </a:r>
          </a:p>
          <a:p>
            <a:r>
              <a:rPr lang="en-US" dirty="0"/>
              <a:t>Navigate to the week 2 folder and open week2_workbook.ipynb</a:t>
            </a:r>
          </a:p>
          <a:p>
            <a:r>
              <a:rPr lang="en-US" dirty="0"/>
              <a:t>We’ll walk through the notebook as a class</a:t>
            </a:r>
          </a:p>
        </p:txBody>
      </p:sp>
    </p:spTree>
    <p:extLst>
      <p:ext uri="{BB962C8B-B14F-4D97-AF65-F5344CB8AC3E}">
        <p14:creationId xmlns:p14="http://schemas.microsoft.com/office/powerpoint/2010/main" val="29277941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6287</TotalTime>
  <Words>1282</Words>
  <Application>Microsoft Office PowerPoint</Application>
  <PresentationFormat>Widescreen</PresentationFormat>
  <Paragraphs>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Rockwell</vt:lpstr>
      <vt:lpstr>Rockwell Condensed</vt:lpstr>
      <vt:lpstr>Wingdings</vt:lpstr>
      <vt:lpstr>Wood Type</vt:lpstr>
      <vt:lpstr>OpenMC is cool</vt:lpstr>
      <vt:lpstr>Goals today (this is a lot to cover)</vt:lpstr>
      <vt:lpstr>Theory</vt:lpstr>
      <vt:lpstr>CSG (Constructive Solid Geometry)</vt:lpstr>
      <vt:lpstr>Particle Transport</vt:lpstr>
      <vt:lpstr>Particle Transport</vt:lpstr>
      <vt:lpstr>Particle Transport</vt:lpstr>
      <vt:lpstr>Active Cycles</vt:lpstr>
      <vt:lpstr>keff calculations</vt:lpstr>
      <vt:lpstr>Shannon Entropy &amp; Inactive Cycles</vt:lpstr>
      <vt:lpstr>Skills</vt:lpstr>
      <vt:lpstr>Materials</vt:lpstr>
      <vt:lpstr>Surfaces/Boundary Conditions</vt:lpstr>
      <vt:lpstr>Half Spaces</vt:lpstr>
      <vt:lpstr>Cells</vt:lpstr>
      <vt:lpstr>Sources</vt:lpstr>
      <vt:lpstr>Apply 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Madsen</dc:creator>
  <cp:lastModifiedBy>William Madsen</cp:lastModifiedBy>
  <cp:revision>71</cp:revision>
  <dcterms:created xsi:type="dcterms:W3CDTF">2025-10-18T06:11:07Z</dcterms:created>
  <dcterms:modified xsi:type="dcterms:W3CDTF">2025-11-04T19:54:44Z</dcterms:modified>
</cp:coreProperties>
</file>