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71" r:id="rId2"/>
    <p:sldId id="287" r:id="rId3"/>
    <p:sldId id="258" r:id="rId4"/>
    <p:sldId id="277" r:id="rId5"/>
    <p:sldId id="298" r:id="rId6"/>
    <p:sldId id="303" r:id="rId7"/>
    <p:sldId id="302" r:id="rId8"/>
    <p:sldId id="295" r:id="rId9"/>
    <p:sldId id="304" r:id="rId10"/>
    <p:sldId id="306" r:id="rId11"/>
    <p:sldId id="305" r:id="rId12"/>
    <p:sldId id="278" r:id="rId13"/>
    <p:sldId id="279" r:id="rId14"/>
    <p:sldId id="307" r:id="rId15"/>
    <p:sldId id="308" r:id="rId16"/>
    <p:sldId id="280" r:id="rId17"/>
    <p:sldId id="290" r:id="rId18"/>
    <p:sldId id="28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C366A-A56A-4D61-850C-721D117971F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0448A-DFBE-4CBA-8364-B0F4961AE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6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9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05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9347157-CD57-42FD-AB37-70B70B85F13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8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45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40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46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70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09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11/18/2025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783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7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37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9347157-CD57-42FD-AB37-70B70B85F13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39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penmc.org/en/stable/usersguide/index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DFA4-8FE5-63C4-598D-6DFE3B492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DDC8B-7B76-5276-1DE2-F974BA9E2D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OpenMC is cool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F3B879-1CB4-8E49-6E94-654C7403B1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4 – Advanced</a:t>
            </a:r>
          </a:p>
        </p:txBody>
      </p:sp>
    </p:spTree>
    <p:extLst>
      <p:ext uri="{BB962C8B-B14F-4D97-AF65-F5344CB8AC3E}">
        <p14:creationId xmlns:p14="http://schemas.microsoft.com/office/powerpoint/2010/main" val="3316423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5BD4-D911-651D-B6BE-221AC1881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r>
              <a:rPr lang="en-US" dirty="0"/>
              <a:t>Review From Week 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C33BAC-B592-D86A-9888-2E01AA435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02230"/>
            <a:ext cx="10058400" cy="5127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Theory</a:t>
            </a:r>
          </a:p>
          <a:p>
            <a:r>
              <a:rPr lang="en-US" dirty="0"/>
              <a:t>Continuous Energy &amp; Multigroup Cross Sections</a:t>
            </a:r>
          </a:p>
          <a:p>
            <a:r>
              <a:rPr lang="en-US" dirty="0"/>
              <a:t>Thermal Scattering Laws</a:t>
            </a:r>
          </a:p>
          <a:p>
            <a:pPr marL="0" indent="0">
              <a:buNone/>
            </a:pPr>
            <a:r>
              <a:rPr lang="en-US" b="1" dirty="0"/>
              <a:t>Skills (The bulk of today)</a:t>
            </a:r>
          </a:p>
          <a:p>
            <a:r>
              <a:rPr lang="en-US" dirty="0"/>
              <a:t>Universes</a:t>
            </a:r>
          </a:p>
          <a:p>
            <a:r>
              <a:rPr lang="en-US" dirty="0"/>
              <a:t>Settings</a:t>
            </a:r>
          </a:p>
          <a:p>
            <a:r>
              <a:rPr lang="en-US" dirty="0"/>
              <a:t>Starting a Run</a:t>
            </a:r>
          </a:p>
          <a:p>
            <a:r>
              <a:rPr lang="en-US" dirty="0"/>
              <a:t>Pincell Creation</a:t>
            </a:r>
          </a:p>
        </p:txBody>
      </p:sp>
    </p:spTree>
    <p:extLst>
      <p:ext uri="{BB962C8B-B14F-4D97-AF65-F5344CB8AC3E}">
        <p14:creationId xmlns:p14="http://schemas.microsoft.com/office/powerpoint/2010/main" val="2768497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0A201-1398-99CA-A290-AC4C8A7AB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r>
              <a:rPr lang="en-US" dirty="0"/>
              <a:t>Goals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11C5-D32C-7830-E342-DA50D5AC6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02230"/>
            <a:ext cx="10058400" cy="3820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Theory</a:t>
            </a:r>
          </a:p>
          <a:p>
            <a:r>
              <a:rPr lang="en-US" dirty="0"/>
              <a:t>P tables (unresolved resonance range)</a:t>
            </a:r>
          </a:p>
          <a:p>
            <a:r>
              <a:rPr lang="en-US" dirty="0"/>
              <a:t>Flux and other tallies</a:t>
            </a:r>
          </a:p>
          <a:p>
            <a:r>
              <a:rPr lang="en-US" dirty="0"/>
              <a:t>Depletion</a:t>
            </a:r>
          </a:p>
          <a:p>
            <a:pPr marL="0" indent="0">
              <a:buNone/>
            </a:pPr>
            <a:r>
              <a:rPr lang="en-US" b="1" dirty="0"/>
              <a:t>Skills</a:t>
            </a:r>
          </a:p>
          <a:p>
            <a:r>
              <a:rPr lang="en-US" dirty="0"/>
              <a:t>Visualization</a:t>
            </a:r>
          </a:p>
          <a:p>
            <a:r>
              <a:rPr lang="en-US" dirty="0"/>
              <a:t>Start Molten Salt Reactor Creation</a:t>
            </a:r>
          </a:p>
        </p:txBody>
      </p:sp>
    </p:spTree>
    <p:extLst>
      <p:ext uri="{BB962C8B-B14F-4D97-AF65-F5344CB8AC3E}">
        <p14:creationId xmlns:p14="http://schemas.microsoft.com/office/powerpoint/2010/main" val="3478548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5E29-EDBA-C8FC-D499-64500E385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92A94-408F-3F52-DB61-75F5EEB1D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stop and ask question along the way</a:t>
            </a:r>
          </a:p>
        </p:txBody>
      </p:sp>
    </p:spTree>
    <p:extLst>
      <p:ext uri="{BB962C8B-B14F-4D97-AF65-F5344CB8AC3E}">
        <p14:creationId xmlns:p14="http://schemas.microsoft.com/office/powerpoint/2010/main" val="80994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5" name="Rectangle 1054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C228F8-F4EC-9E38-7F6B-59281A264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/>
              <a:t>P tables (unresolved resonance range)</a:t>
            </a:r>
          </a:p>
        </p:txBody>
      </p:sp>
      <p:pic>
        <p:nvPicPr>
          <p:cNvPr id="1030" name="Picture 6" descr="Thermal Neutron | nuclear-power.com">
            <a:extLst>
              <a:ext uri="{FF2B5EF4-FFF2-40B4-BE49-F238E27FC236}">
                <a16:creationId xmlns:a16="http://schemas.microsoft.com/office/drawing/2014/main" id="{FDD25895-1544-93C6-AA1A-85572F68F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6" r="2254" b="2"/>
          <a:stretch>
            <a:fillRect/>
          </a:stretch>
        </p:blipFill>
        <p:spPr bwMode="auto">
          <a:xfrm>
            <a:off x="1007196" y="2265037"/>
            <a:ext cx="5088800" cy="3907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23510-90D6-E064-EAAA-382F1FEFC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216" y="2320412"/>
            <a:ext cx="4632031" cy="38517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Unresolved Resonance Region (URR)</a:t>
            </a:r>
          </a:p>
          <a:p>
            <a:r>
              <a:rPr lang="en-US" sz="1700"/>
              <a:t>We understand the x-section data at low energies (characteristic, distinct peaks)</a:t>
            </a:r>
          </a:p>
          <a:p>
            <a:r>
              <a:rPr lang="en-US" sz="1700"/>
              <a:t>We also understand x-section data at high energies (peaks often blend into a smoothed average value)</a:t>
            </a:r>
          </a:p>
          <a:p>
            <a:r>
              <a:rPr lang="en-US" sz="1700"/>
              <a:t>We have a hard time characterizing x-section data at the intermediate range of neutron energies (peaks are very closely spaced and hard to characterize)</a:t>
            </a:r>
          </a:p>
          <a:p>
            <a:r>
              <a:rPr lang="en-US" sz="1700"/>
              <a:t>URR is from neutron energies of about 100  keV to 2 MeV (for things such as U238)</a:t>
            </a:r>
          </a:p>
        </p:txBody>
      </p:sp>
      <p:sp>
        <p:nvSpPr>
          <p:cNvPr id="1063" name="Oval 1062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065" name="Oval 1064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1634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99AE0-E974-2E4C-0503-0317B6858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23C6F-C1C3-8F02-EDE6-404AB4793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 tables </a:t>
            </a:r>
            <a:r>
              <a:rPr lang="en-US" sz="4800" dirty="0"/>
              <a:t>(unresolved resonance range)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104C3-3E9C-EB72-E816-9ADB2B2F7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not resolve the resonances with our measurement techniques in this region because they are so close together</a:t>
            </a:r>
          </a:p>
          <a:p>
            <a:r>
              <a:rPr lang="en-US" dirty="0"/>
              <a:t>Instead we use probability tables to get statistical descriptions of this range (</a:t>
            </a:r>
            <a:r>
              <a:rPr lang="en-US" dirty="0" err="1"/>
              <a:t>ie</a:t>
            </a:r>
            <a:r>
              <a:rPr lang="en-US" dirty="0"/>
              <a:t>. mean level spacing, or mean resonance width)</a:t>
            </a:r>
          </a:p>
          <a:p>
            <a:r>
              <a:rPr lang="en-US" dirty="0"/>
              <a:t>(note: as users we aren’t going to be doing anything with </a:t>
            </a:r>
            <a:r>
              <a:rPr lang="en-US" dirty="0" err="1"/>
              <a:t>ptables</a:t>
            </a:r>
            <a:r>
              <a:rPr lang="en-US" dirty="0"/>
              <a:t>, but you should know that this is how Monte Carlo methods deal with those particular neutron energies)</a:t>
            </a:r>
          </a:p>
        </p:txBody>
      </p:sp>
    </p:spTree>
    <p:extLst>
      <p:ext uri="{BB962C8B-B14F-4D97-AF65-F5344CB8AC3E}">
        <p14:creationId xmlns:p14="http://schemas.microsoft.com/office/powerpoint/2010/main" val="3707330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F1DC-004C-87C7-B2A0-8AB86AF21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Flux Tally (and other tallies)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7043D0C-E963-5378-CFF4-91E1FFD3D668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A tally is pretty much a count of how many times something happened</a:t>
            </a:r>
          </a:p>
          <a:p>
            <a:r>
              <a:rPr lang="en-US" dirty="0"/>
              <a:t>The most basic tally is flux (number of neutrons passing through a unit area)</a:t>
            </a:r>
          </a:p>
          <a:p>
            <a:r>
              <a:rPr lang="en-US" dirty="0"/>
              <a:t>We can also tally reaction rates for any particular reaction</a:t>
            </a:r>
          </a:p>
          <a:p>
            <a:r>
              <a:rPr lang="en-US" dirty="0"/>
              <a:t>Common tallies to keep track of:</a:t>
            </a:r>
          </a:p>
          <a:p>
            <a:pPr lvl="1"/>
            <a:r>
              <a:rPr lang="en-US" dirty="0"/>
              <a:t>Reaction Rate</a:t>
            </a:r>
          </a:p>
          <a:p>
            <a:pPr lvl="1"/>
            <a:r>
              <a:rPr lang="en-US" dirty="0"/>
              <a:t>Absorption Rate</a:t>
            </a:r>
          </a:p>
          <a:p>
            <a:pPr lvl="1"/>
            <a:r>
              <a:rPr lang="en-US" dirty="0"/>
              <a:t>Fission Rate</a:t>
            </a:r>
          </a:p>
          <a:p>
            <a:pPr lvl="1"/>
            <a:r>
              <a:rPr lang="en-US" dirty="0"/>
              <a:t>kappa-fission (recoverable energy production rate due to fission)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4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B490-CE74-FF7B-2488-483CF9E7C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6B9ACA4-80F7-45C9-96F0-0BE44A351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633" y="6172200"/>
            <a:ext cx="1009791" cy="6192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583552-D859-F6C5-3650-075AEB082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51" y="512064"/>
            <a:ext cx="10058400" cy="1609344"/>
          </a:xfrm>
        </p:spPr>
        <p:txBody>
          <a:bodyPr/>
          <a:lstStyle/>
          <a:p>
            <a:r>
              <a:rPr lang="en-US" dirty="0"/>
              <a:t>Flux Tally (and other tallies)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0C4B95-FE8D-5296-950D-A2989082368F}"/>
              </a:ext>
            </a:extLst>
          </p:cNvPr>
          <p:cNvSpPr txBox="1">
            <a:spLocks/>
          </p:cNvSpPr>
          <p:nvPr/>
        </p:nvSpPr>
        <p:spPr>
          <a:xfrm>
            <a:off x="1069848" y="2121408"/>
            <a:ext cx="9968266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66A82BD-F8E7-BF72-FEBA-E27E503AD4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5438861"/>
              </p:ext>
            </p:extLst>
          </p:nvPr>
        </p:nvGraphicFramePr>
        <p:xfrm>
          <a:off x="0" y="3942996"/>
          <a:ext cx="5824252" cy="2903928"/>
        </p:xfrm>
        <a:graphic>
          <a:graphicData uri="http://schemas.openxmlformats.org/drawingml/2006/table">
            <a:tbl>
              <a:tblPr/>
              <a:tblGrid>
                <a:gridCol w="2912126">
                  <a:extLst>
                    <a:ext uri="{9D8B030D-6E8A-4147-A177-3AD203B41FA5}">
                      <a16:colId xmlns:a16="http://schemas.microsoft.com/office/drawing/2014/main" val="1391313105"/>
                    </a:ext>
                  </a:extLst>
                </a:gridCol>
                <a:gridCol w="2912126">
                  <a:extLst>
                    <a:ext uri="{9D8B030D-6E8A-4147-A177-3AD203B41FA5}">
                      <a16:colId xmlns:a16="http://schemas.microsoft.com/office/drawing/2014/main" val="153927535"/>
                    </a:ext>
                  </a:extLst>
                </a:gridCol>
              </a:tblGrid>
              <a:tr h="682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Position in space — typically a point in 3D coordinates (x, y, z) or a volume region.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37598"/>
                  </a:ext>
                </a:extLst>
              </a:tr>
              <a:tr h="682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600" dirty="0"/>
                        <a:t>Ω</a:t>
                      </a:r>
                      <a:endParaRPr lang="en-US" sz="1600" dirty="0"/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Neutron direction — unit vector representing the neutron’s travel direction (angle in 3D space).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861977"/>
                  </a:ext>
                </a:extLst>
              </a:tr>
              <a:tr h="288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 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Neutron energy.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409529"/>
                  </a:ext>
                </a:extLst>
              </a:tr>
              <a:tr h="470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dr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Differential spatial volume element.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41165"/>
                  </a:ext>
                </a:extLst>
              </a:tr>
              <a:tr h="470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</a:t>
                      </a:r>
                      <a:r>
                        <a:rPr lang="el-GR" sz="1600" dirty="0"/>
                        <a:t>Ω</a:t>
                      </a:r>
                      <a:endParaRPr lang="en-US" sz="1600" dirty="0"/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Differential solid angle element (direction space).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657964"/>
                  </a:ext>
                </a:extLst>
              </a:tr>
              <a:tr h="288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Differential energy element.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863211"/>
                  </a:ext>
                </a:extLst>
              </a:tr>
            </a:tbl>
          </a:graphicData>
        </a:graphic>
      </p:graphicFrame>
      <p:sp>
        <p:nvSpPr>
          <p:cNvPr id="9" name="AutoShape 2" descr="Generated image">
            <a:extLst>
              <a:ext uri="{FF2B5EF4-FFF2-40B4-BE49-F238E27FC236}">
                <a16:creationId xmlns:a16="http://schemas.microsoft.com/office/drawing/2014/main" id="{1C85E8EA-294F-B0D2-FC48-F40F2D5D06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B791A1-ACC4-4015-8A6F-5EA8E986F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033" y="1855576"/>
            <a:ext cx="7520539" cy="184118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085BDE-04F0-9364-0410-6213FBE647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497869"/>
              </p:ext>
            </p:extLst>
          </p:nvPr>
        </p:nvGraphicFramePr>
        <p:xfrm>
          <a:off x="5943600" y="3962594"/>
          <a:ext cx="6248400" cy="2884329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val="2234657197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3980213619"/>
                    </a:ext>
                  </a:extLst>
                </a:gridCol>
              </a:tblGrid>
              <a:tr h="1189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600" dirty="0"/>
                        <a:t>ψ(</a:t>
                      </a:r>
                      <a:r>
                        <a:rPr lang="en-US" sz="1600" dirty="0"/>
                        <a:t>r,</a:t>
                      </a:r>
                      <a:r>
                        <a:rPr lang="el-GR" sz="1600" dirty="0"/>
                        <a:t>Ω,</a:t>
                      </a:r>
                      <a:r>
                        <a:rPr lang="en-US" sz="1600" dirty="0"/>
                        <a:t>E)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Neutron angular flux — neutron flow rate through space, direction, and energy. It represents how many neutrons exist at that position, going in that direction, with that energy.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83159"/>
                  </a:ext>
                </a:extLst>
              </a:tr>
              <a:tr h="961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f(r,</a:t>
                      </a:r>
                      <a:r>
                        <a:rPr lang="el-GR" sz="1600" dirty="0"/>
                        <a:t>Ω,</a:t>
                      </a:r>
                      <a:r>
                        <a:rPr lang="en-US" sz="1600" dirty="0"/>
                        <a:t>E)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Score function</a:t>
                      </a:r>
                      <a:r>
                        <a:rPr lang="en-US" sz="1400"/>
                        <a:t> — describes what quantity you want to measure (e.g., flux, reaction rate, absorption, fission).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163433"/>
                  </a:ext>
                </a:extLst>
              </a:tr>
              <a:tr h="733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X 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Final tally result — the quantity being measured (like total flux, absorption rate, dose, etc.).</a:t>
                      </a:r>
                    </a:p>
                  </a:txBody>
                  <a:tcPr marL="47108" marR="47108" marT="23554" marB="235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7286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725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742F3-5521-8679-B7FD-FB47B514A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2E11DD-B54B-4751-9C17-39DAF9EF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20329-42CF-567B-72A2-95FB6A688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80" y="484632"/>
            <a:ext cx="6743844" cy="1609344"/>
          </a:xfrm>
        </p:spPr>
        <p:txBody>
          <a:bodyPr>
            <a:normAutofit/>
          </a:bodyPr>
          <a:lstStyle/>
          <a:p>
            <a:r>
              <a:rPr lang="en-US" sz="4800"/>
              <a:t>Depletion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2C31-3C7B-9128-4AF7-157AA5B7A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279" y="2121408"/>
            <a:ext cx="6743845" cy="4050792"/>
          </a:xfrm>
        </p:spPr>
        <p:txBody>
          <a:bodyPr>
            <a:normAutofit/>
          </a:bodyPr>
          <a:lstStyle/>
          <a:p>
            <a:r>
              <a:rPr lang="en-US" sz="1800" dirty="0"/>
              <a:t>k-eigenvalue calculations calculate the data at a given point</a:t>
            </a:r>
          </a:p>
          <a:p>
            <a:r>
              <a:rPr lang="en-US" sz="1800" dirty="0"/>
              <a:t>A depletion calculation (also called burnup calculation) will calculate nuclide densities within a material over time (</a:t>
            </a:r>
            <a:r>
              <a:rPr lang="en-US" sz="1800" dirty="0" err="1"/>
              <a:t>ie</a:t>
            </a:r>
            <a:r>
              <a:rPr lang="en-US" sz="1800" dirty="0"/>
              <a:t>. what is going to be in my reactor in 6 months? a year? etc.?)</a:t>
            </a:r>
          </a:p>
          <a:p>
            <a:r>
              <a:rPr lang="en-US" sz="1800" dirty="0"/>
              <a:t>A depletion is a repetition of calculating your transport equation and the transmutation equations. There are different methods for optimizing these calculations </a:t>
            </a:r>
          </a:p>
          <a:p>
            <a:r>
              <a:rPr lang="en-US" sz="1800" dirty="0"/>
              <a:t>The concentration of nuclides is calculated using data from decay chains (our OPENMC_CHAIN_FILE data that we installed in week 1 along with cross section data)</a:t>
            </a:r>
          </a:p>
          <a:p>
            <a:r>
              <a:rPr lang="en-US" sz="1800" dirty="0"/>
              <a:t>Bateman/Transmutation equations are used to solve for the change in the amount of each nuclide present over time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5DE4E1-F219-45A4-96D9-9A86D0E4D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601C3FF-4A5D-437C-B3DB-A53B99D30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1B1BDC9-B583-4F65-8FE9-E2CBE71D9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4100" name="Picture 4">
            <a:extLst>
              <a:ext uri="{FF2B5EF4-FFF2-40B4-BE49-F238E27FC236}">
                <a16:creationId xmlns:a16="http://schemas.microsoft.com/office/drawing/2014/main" id="{280B2F0F-A175-FF2D-EDC6-13920F27D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5752" y="0"/>
            <a:ext cx="444624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052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40000-59BD-F57C-348A-976470DA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Depletion (Bateman Equations)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60F7EA-3305-8ECF-954B-3B2CD63EF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520" y="4146804"/>
            <a:ext cx="8668960" cy="116221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E3BF84-DCAC-EB77-E4C7-07A8ADB8A583}"/>
              </a:ext>
            </a:extLst>
          </p:cNvPr>
          <p:cNvSpPr txBox="1">
            <a:spLocks/>
          </p:cNvSpPr>
          <p:nvPr/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It’s an isotope balance</a:t>
            </a:r>
          </a:p>
          <a:p>
            <a:pPr lvl="1"/>
            <a:r>
              <a:rPr lang="en-US" dirty="0"/>
              <a:t>First term = radioactive decay loss of 𝑖</a:t>
            </a:r>
          </a:p>
          <a:p>
            <a:pPr lvl="1"/>
            <a:r>
              <a:rPr lang="en-US" dirty="0"/>
              <a:t>Second term = loss of 𝑖 by all neutron reactions 𝑟 (absorption, (n,2n), fission, etc.)</a:t>
            </a:r>
          </a:p>
          <a:p>
            <a:pPr lvl="1"/>
            <a:r>
              <a:rPr lang="en-US" dirty="0"/>
              <a:t>Third term = production from decay of other nuclides 𝑗 into 𝑖</a:t>
            </a:r>
          </a:p>
          <a:p>
            <a:pPr lvl="1"/>
            <a:r>
              <a:rPr lang="en-US" dirty="0"/>
              <a:t>Fourth term = production from neutron reactions on parent nuclides 𝑗 (including fission yields).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You then set it up as a system of ODEs where N is a column vector containing all nuclide number densities and A is a square matrix containing info on production and losses 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CCAC5D-0285-3120-F46F-9BF749FF3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562" y="5852983"/>
            <a:ext cx="2181529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52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34FFE-B4AF-6BEA-F546-0AA45F03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Depletion </a:t>
            </a:r>
            <a:r>
              <a:rPr lang="en-US" sz="4800" dirty="0"/>
              <a:t>(some example data output)</a:t>
            </a:r>
            <a:endParaRPr lang="en-US" dirty="0"/>
          </a:p>
        </p:txBody>
      </p:sp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5E6A48D9-4E55-1842-042F-CE2C2F484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67" y="2093976"/>
            <a:ext cx="5401733" cy="4051300"/>
          </a:xfrm>
        </p:spPr>
      </p:pic>
      <p:pic>
        <p:nvPicPr>
          <p:cNvPr id="7" name="Picture 6" descr="A graph with orange dots&#10;&#10;AI-generated content may be incorrect.">
            <a:extLst>
              <a:ext uri="{FF2B5EF4-FFF2-40B4-BE49-F238E27FC236}">
                <a16:creationId xmlns:a16="http://schemas.microsoft.com/office/drawing/2014/main" id="{0E4E92E1-F99C-7C81-D074-E43EAB3D6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581" y="2093976"/>
            <a:ext cx="5401733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46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6504A-0BDF-D342-EC46-29AF43976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81F67-2EBB-B944-1947-E76F90A7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40F85-F664-C453-5898-4C16CEB61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overview here, and then transition to the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1307129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6097-F093-0FF6-3158-0EA7904A8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803E2-5F80-6449-E607-E802AD62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Visualization – Creating 2d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922A0-95AE-E8F8-97E1-F43EE950B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plot and set the following parameters:</a:t>
            </a:r>
          </a:p>
          <a:p>
            <a:pPr lvl="1"/>
            <a:r>
              <a:rPr lang="en-US" dirty="0"/>
              <a:t>basis = what plane (</a:t>
            </a:r>
            <a:r>
              <a:rPr lang="en-US" dirty="0" err="1"/>
              <a:t>xy</a:t>
            </a:r>
            <a:r>
              <a:rPr lang="en-US" dirty="0"/>
              <a:t>, </a:t>
            </a:r>
            <a:r>
              <a:rPr lang="en-US" dirty="0" err="1"/>
              <a:t>zy</a:t>
            </a:r>
            <a:r>
              <a:rPr lang="en-US" dirty="0"/>
              <a:t>, </a:t>
            </a:r>
            <a:r>
              <a:rPr lang="en-US" dirty="0" err="1"/>
              <a:t>yz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Origin</a:t>
            </a:r>
          </a:p>
          <a:p>
            <a:pPr lvl="1"/>
            <a:r>
              <a:rPr lang="en-US" dirty="0"/>
              <a:t>width</a:t>
            </a:r>
          </a:p>
          <a:p>
            <a:pPr lvl="1"/>
            <a:r>
              <a:rPr lang="en-US" dirty="0"/>
              <a:t>pixels = resolution of image</a:t>
            </a:r>
          </a:p>
          <a:p>
            <a:pPr lvl="1"/>
            <a:r>
              <a:rPr lang="en-US" dirty="0" err="1"/>
              <a:t>color_by</a:t>
            </a:r>
            <a:r>
              <a:rPr lang="en-US" dirty="0"/>
              <a:t> = color by ‘cell’ or ‘material’ (or a couple others)</a:t>
            </a:r>
          </a:p>
          <a:p>
            <a:pPr lvl="1"/>
            <a:r>
              <a:rPr lang="en-US" dirty="0"/>
              <a:t>filename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215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BBBAF-760A-F249-FC3B-A20380363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– creating 3d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AAB8E-A05B-7981-915D-3707F7EBB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Voxel plot is a way to visualize your project in 3D</a:t>
            </a:r>
          </a:p>
          <a:p>
            <a:pPr marL="0" indent="0">
              <a:buNone/>
            </a:pPr>
            <a:r>
              <a:rPr lang="en-US" dirty="0"/>
              <a:t>You will create a voxel plot and specify</a:t>
            </a:r>
          </a:p>
          <a:p>
            <a:pPr lvl="1"/>
            <a:r>
              <a:rPr lang="en-US" dirty="0"/>
              <a:t>type = 'voxel'</a:t>
            </a:r>
          </a:p>
          <a:p>
            <a:pPr lvl="1"/>
            <a:r>
              <a:rPr lang="en-US" dirty="0"/>
              <a:t>Origin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(x, y, z)</a:t>
            </a:r>
          </a:p>
          <a:p>
            <a:pPr lvl="1"/>
            <a:r>
              <a:rPr lang="en-US" dirty="0"/>
              <a:t>width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(</a:t>
            </a:r>
            <a:r>
              <a:rPr lang="en-US" dirty="0" err="1"/>
              <a:t>x_width</a:t>
            </a:r>
            <a:r>
              <a:rPr lang="en-US" dirty="0"/>
              <a:t>, </a:t>
            </a:r>
            <a:r>
              <a:rPr lang="en-US" dirty="0" err="1"/>
              <a:t>y_width</a:t>
            </a:r>
            <a:r>
              <a:rPr lang="en-US" dirty="0"/>
              <a:t>, </a:t>
            </a:r>
            <a:r>
              <a:rPr lang="en-US" dirty="0" err="1"/>
              <a:t>z_width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pixels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(</a:t>
            </a:r>
            <a:r>
              <a:rPr lang="en-US" dirty="0" err="1"/>
              <a:t>x_resolution</a:t>
            </a:r>
            <a:r>
              <a:rPr lang="en-US" dirty="0"/>
              <a:t>, </a:t>
            </a:r>
            <a:r>
              <a:rPr lang="en-US" dirty="0" err="1"/>
              <a:t>y_resolution</a:t>
            </a:r>
            <a:r>
              <a:rPr lang="en-US" dirty="0"/>
              <a:t>, </a:t>
            </a:r>
            <a:r>
              <a:rPr lang="en-US" dirty="0" err="1"/>
              <a:t>z_resolution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Filename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Note: You will need to download </a:t>
            </a:r>
            <a:r>
              <a:rPr lang="en-US" dirty="0" err="1"/>
              <a:t>ParaView</a:t>
            </a:r>
            <a:r>
              <a:rPr lang="en-US" dirty="0"/>
              <a:t> (or something similar) in order to view these</a:t>
            </a:r>
          </a:p>
        </p:txBody>
      </p:sp>
    </p:spTree>
    <p:extLst>
      <p:ext uri="{BB962C8B-B14F-4D97-AF65-F5344CB8AC3E}">
        <p14:creationId xmlns:p14="http://schemas.microsoft.com/office/powerpoint/2010/main" val="3069985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CF043BA-0C52-4068-BCF5-2B2D89BA9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A2C6BD-D015-A703-2EC8-33DE799CE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12" y="484632"/>
            <a:ext cx="3816774" cy="1609344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sz="6000" dirty="0"/>
              <a:t>Molten Salt Reactor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7FDF4F-8FB8-3405-56C5-B27448EA42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84" b="1"/>
          <a:stretch>
            <a:fillRect/>
          </a:stretch>
        </p:blipFill>
        <p:spPr>
          <a:xfrm>
            <a:off x="3343" y="10"/>
            <a:ext cx="7548923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BDDF5-236C-5DE5-EC1D-CF8A130B3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3611" y="2121408"/>
            <a:ext cx="3816774" cy="4050792"/>
          </a:xfrm>
        </p:spPr>
        <p:txBody>
          <a:bodyPr>
            <a:normAutofit/>
          </a:bodyPr>
          <a:lstStyle/>
          <a:p>
            <a:r>
              <a:rPr lang="en-US" dirty="0"/>
              <a:t>MSRE-D</a:t>
            </a:r>
          </a:p>
          <a:p>
            <a:r>
              <a:rPr lang="en-US" dirty="0"/>
              <a:t>Image and Data From </a:t>
            </a:r>
            <a:r>
              <a:rPr lang="en-US" dirty="0" err="1"/>
              <a:t>TerraPower</a:t>
            </a:r>
            <a:r>
              <a:rPr lang="en-US" dirty="0"/>
              <a:t> Report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89ACCC8-A635-400E-B9C0-AD9CA5710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BC21CEB-233C-4B50-8CCA-829AD0428F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3DF2D74-CD63-49A8-A93B-9DA2F5951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5882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83745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981573"/>
            <a:ext cx="10222992" cy="2078335"/>
          </a:xfrm>
          <a:prstGeom prst="rect">
            <a:avLst/>
          </a:prstGeom>
          <a:blipFill dpi="0" rotWithShape="1">
            <a:blip r:embed="rId2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17E1B-74E6-A0D2-F362-35368ED6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456" y="4162031"/>
            <a:ext cx="4543683" cy="1767141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Molten Salt Reactor</a:t>
            </a:r>
          </a:p>
        </p:txBody>
      </p:sp>
      <p:pic>
        <p:nvPicPr>
          <p:cNvPr id="5" name="Content Placeholder 4" descr="A cartoon of a rectangular object&#10;&#10;AI-generated content may be incorrect.">
            <a:extLst>
              <a:ext uri="{FF2B5EF4-FFF2-40B4-BE49-F238E27FC236}">
                <a16:creationId xmlns:a16="http://schemas.microsoft.com/office/drawing/2014/main" id="{29A096EB-B9BF-3198-18B1-0390A19BEE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457" y="-1498"/>
            <a:ext cx="2614514" cy="4150024"/>
          </a:xfrm>
          <a:prstGeom prst="rect">
            <a:avLst/>
          </a:prstGeom>
        </p:spPr>
      </p:pic>
      <p:pic>
        <p:nvPicPr>
          <p:cNvPr id="9" name="Picture 8" descr="A green circle with a yellow center&#10;&#10;AI-generated content may be incorrect.">
            <a:extLst>
              <a:ext uri="{FF2B5EF4-FFF2-40B4-BE49-F238E27FC236}">
                <a16:creationId xmlns:a16="http://schemas.microsoft.com/office/drawing/2014/main" id="{EF0FCAB6-50F5-A2AE-3DC6-31C6AA6BC7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489" y="564542"/>
            <a:ext cx="3064611" cy="3064611"/>
          </a:xfrm>
          <a:prstGeom prst="rect">
            <a:avLst/>
          </a:prstGeom>
        </p:spPr>
      </p:pic>
      <p:pic>
        <p:nvPicPr>
          <p:cNvPr id="7" name="Picture 6" descr="A green rectangle in purple square&#10;&#10;AI-generated content may be incorrect.">
            <a:extLst>
              <a:ext uri="{FF2B5EF4-FFF2-40B4-BE49-F238E27FC236}">
                <a16:creationId xmlns:a16="http://schemas.microsoft.com/office/drawing/2014/main" id="{BD97BF1B-AB02-45C5-BECD-E01614C8FC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521" y="564542"/>
            <a:ext cx="3064611" cy="3064611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4EF2A7D-39DF-035B-C148-2FD7867CB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4170410"/>
            <a:ext cx="4699221" cy="1767141"/>
          </a:xfrm>
        </p:spPr>
        <p:txBody>
          <a:bodyPr anchor="ctr">
            <a:normAutofit/>
          </a:bodyPr>
          <a:lstStyle/>
          <a:p>
            <a:r>
              <a:rPr lang="en-US" sz="1800" dirty="0"/>
              <a:t>MSRE-D</a:t>
            </a:r>
          </a:p>
          <a:p>
            <a:r>
              <a:rPr lang="en-US" sz="1800" dirty="0"/>
              <a:t>Image and Data From </a:t>
            </a:r>
            <a:r>
              <a:rPr lang="en-US" sz="1800" dirty="0" err="1"/>
              <a:t>TerraPower</a:t>
            </a:r>
            <a:r>
              <a:rPr lang="en-US" sz="1800" dirty="0"/>
              <a:t> Report</a:t>
            </a:r>
          </a:p>
          <a:p>
            <a:endParaRPr lang="en-US" sz="1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128670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1625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B508C-F447-0F81-9C23-720AF1E63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3144-AD89-99CF-4C41-127E757B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FBEF4-BFA5-A161-F7FE-ACBAACD21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271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FC1D0-E337-F1F6-2522-3BD7730A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0B6BC-7FCF-B935-0549-D05B765D0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543798"/>
          </a:xfrm>
        </p:spPr>
        <p:txBody>
          <a:bodyPr>
            <a:normAutofit/>
          </a:bodyPr>
          <a:lstStyle/>
          <a:p>
            <a:r>
              <a:rPr lang="en-US" dirty="0"/>
              <a:t>Go to the crash course openmc directory that you cloned from the </a:t>
            </a:r>
            <a:r>
              <a:rPr lang="en-US" dirty="0" err="1"/>
              <a:t>github</a:t>
            </a:r>
            <a:r>
              <a:rPr lang="en-US" dirty="0"/>
              <a:t> and type run the command “git pull” to get the most up to date version of code</a:t>
            </a:r>
          </a:p>
          <a:p>
            <a:r>
              <a:rPr lang="en-US" dirty="0"/>
              <a:t>Navigate to the week 4 folder &gt;&gt; </a:t>
            </a:r>
            <a:r>
              <a:rPr lang="en-US" dirty="0" err="1"/>
              <a:t>mcfr_D</a:t>
            </a:r>
            <a:r>
              <a:rPr lang="en-US" dirty="0"/>
              <a:t> &gt;&gt; </a:t>
            </a:r>
            <a:r>
              <a:rPr lang="en-US" dirty="0" err="1"/>
              <a:t>mcfr_D.ipynb</a:t>
            </a:r>
            <a:endParaRPr lang="en-US" dirty="0"/>
          </a:p>
          <a:p>
            <a:r>
              <a:rPr lang="en-US" dirty="0"/>
              <a:t>We will walk through creation of </a:t>
            </a:r>
            <a:r>
              <a:rPr lang="en-US" dirty="0" err="1"/>
              <a:t>mcfr_D</a:t>
            </a:r>
            <a:r>
              <a:rPr lang="en-US" dirty="0"/>
              <a:t> all together</a:t>
            </a:r>
          </a:p>
          <a:p>
            <a:r>
              <a:rPr lang="en-US" dirty="0"/>
              <a:t>You will then create </a:t>
            </a:r>
            <a:r>
              <a:rPr lang="en-US" dirty="0" err="1"/>
              <a:t>mcfr_C</a:t>
            </a:r>
            <a:r>
              <a:rPr lang="en-US" dirty="0"/>
              <a:t> on your own</a:t>
            </a:r>
          </a:p>
          <a:p>
            <a:r>
              <a:rPr lang="en-US" dirty="0"/>
              <a:t>Some guidelines:</a:t>
            </a:r>
          </a:p>
          <a:p>
            <a:pPr lvl="1"/>
            <a:r>
              <a:rPr lang="en-US" dirty="0"/>
              <a:t>All needed data for </a:t>
            </a:r>
            <a:r>
              <a:rPr lang="en-US" dirty="0" err="1"/>
              <a:t>mcfr_C</a:t>
            </a:r>
            <a:r>
              <a:rPr lang="en-US" dirty="0"/>
              <a:t> is in the </a:t>
            </a:r>
            <a:r>
              <a:rPr lang="en-US" dirty="0" err="1"/>
              <a:t>TerraPower</a:t>
            </a:r>
            <a:r>
              <a:rPr lang="en-US" dirty="0"/>
              <a:t> document </a:t>
            </a:r>
            <a:r>
              <a:rPr lang="en-US" sz="1600" dirty="0"/>
              <a:t>“MCFR-ENG-PRSNT-0021Rev0-1”</a:t>
            </a:r>
            <a:endParaRPr lang="en-US" dirty="0"/>
          </a:p>
          <a:p>
            <a:pPr lvl="1"/>
            <a:r>
              <a:rPr lang="en-US" dirty="0" err="1"/>
              <a:t>mcfr.xsls</a:t>
            </a:r>
            <a:r>
              <a:rPr lang="en-US" dirty="0"/>
              <a:t> has that data systematically documented for creation of both </a:t>
            </a:r>
            <a:r>
              <a:rPr lang="en-US" dirty="0" err="1"/>
              <a:t>mcfr_C</a:t>
            </a:r>
            <a:r>
              <a:rPr lang="en-US" dirty="0"/>
              <a:t> and </a:t>
            </a:r>
            <a:r>
              <a:rPr lang="en-US" dirty="0" err="1"/>
              <a:t>mcfr_D</a:t>
            </a:r>
            <a:endParaRPr lang="en-US" dirty="0"/>
          </a:p>
          <a:p>
            <a:pPr lvl="1"/>
            <a:r>
              <a:rPr lang="en-US" dirty="0"/>
              <a:t>While all you need is in the excel, I recommend that you try to create the geometry on your own, and then use the excel document to check</a:t>
            </a:r>
          </a:p>
          <a:p>
            <a:pPr lvl="1"/>
            <a:r>
              <a:rPr lang="en-US" dirty="0"/>
              <a:t>Avoid using AI at least while you’re learning how it works</a:t>
            </a:r>
          </a:p>
          <a:p>
            <a:pPr lvl="1"/>
            <a:r>
              <a:rPr lang="en-US" dirty="0"/>
              <a:t>Also for syntax and code help refer to OpenMC documentation under users guide (</a:t>
            </a:r>
            <a:r>
              <a:rPr lang="en-US" dirty="0">
                <a:hlinkClick r:id="rId2"/>
              </a:rPr>
              <a:t>https://docs.openmc.org/en/stable/usersguide/index.html</a:t>
            </a:r>
            <a:r>
              <a:rPr lang="en-US" dirty="0"/>
              <a:t>) it’s very well done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941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21579</TotalTime>
  <Words>1063</Words>
  <Application>Microsoft Office PowerPoint</Application>
  <PresentationFormat>Widescreen</PresentationFormat>
  <Paragraphs>115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OpenMC is cool</vt:lpstr>
      <vt:lpstr>Review From Week 3</vt:lpstr>
      <vt:lpstr>Goals today</vt:lpstr>
      <vt:lpstr>Theory</vt:lpstr>
      <vt:lpstr>P tables (unresolved resonance range)</vt:lpstr>
      <vt:lpstr>P tables (unresolved resonance range)</vt:lpstr>
      <vt:lpstr>Flux Tally (and other tallies)</vt:lpstr>
      <vt:lpstr>Flux Tally (and other tallies)</vt:lpstr>
      <vt:lpstr>Depletion</vt:lpstr>
      <vt:lpstr>Depletion (Bateman Equations)</vt:lpstr>
      <vt:lpstr>Depletion (some example data output)</vt:lpstr>
      <vt:lpstr>Skills</vt:lpstr>
      <vt:lpstr>Visualization – Creating 2d plots</vt:lpstr>
      <vt:lpstr>Visualization – creating 3d plots</vt:lpstr>
      <vt:lpstr>Molten Salt Reactor</vt:lpstr>
      <vt:lpstr>Molten Salt Reactor</vt:lpstr>
      <vt:lpstr>Apply it</vt:lpstr>
      <vt:lpstr>Apply 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Madsen</dc:creator>
  <cp:lastModifiedBy>William Madsen</cp:lastModifiedBy>
  <cp:revision>149</cp:revision>
  <dcterms:created xsi:type="dcterms:W3CDTF">2025-10-18T06:11:07Z</dcterms:created>
  <dcterms:modified xsi:type="dcterms:W3CDTF">2025-11-19T01:03:55Z</dcterms:modified>
</cp:coreProperties>
</file>