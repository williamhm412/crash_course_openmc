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1wte3dEnR35FNaDgWkiQSTUED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59aadb6d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ab59aadb6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b59aadb6d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ab59aadb6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59aadb6d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b59aadb6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59aadb6d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ab59aadb6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59aadb6d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ab59aadb6d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59aadb6d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ab59aadb6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6200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" name="Google Shape;20;p20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175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1" name="Google Shape;21;p20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22" name="Google Shape;22;p20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2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" name="Google Shape;24;p20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25" name="Google Shape;25;p20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sldNum" idx="12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sz="8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dt" idx="10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ftr" idx="11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22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3" name="Google Shape;43;p2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4" name="Google Shape;44;p2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2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3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body" idx="4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body" idx="2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27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9" name="Google Shape;79;p2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0" name="Google Shape;80;p27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>
            <a:spLocks noGrp="1"/>
          </p:cNvSpPr>
          <p:nvPr>
            <p:ph type="pic" idx="2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28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9" name="Google Shape;89;p2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0" name="Google Shape;90;p2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body" idx="1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0"/>
          <p:cNvSpPr txBox="1">
            <a:spLocks noGrp="1"/>
          </p:cNvSpPr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body" idx="1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sz="5400" b="0" i="0" u="none" strike="noStrike" cap="non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grpSp>
        <p:nvGrpSpPr>
          <p:cNvPr id="14" name="Google Shape;14;p19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1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6" name="Google Shape;16;p1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mc.org/en/stable/usersguide/index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</a:pPr>
            <a:r>
              <a:rPr lang="en-US"/>
              <a:t>OPENMC IS COOL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/>
              <a:t>Week 5 – Final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REVIEW FROM WEEK 4</a:t>
            </a:r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1069848" y="1502230"/>
            <a:ext cx="10058400" cy="512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Theory</a:t>
            </a:r>
            <a:endParaRPr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 tables (unresolved resonance range)</a:t>
            </a:r>
            <a:endParaRPr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Flux and other tallies</a:t>
            </a:r>
            <a:endParaRPr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Depletion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/>
              <a:t>Skills</a:t>
            </a:r>
            <a:endParaRPr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Visualization</a:t>
            </a:r>
            <a:endParaRPr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Start Molten Salt Reactor Creation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GOALS TODAY</a:t>
            </a:r>
            <a:endParaRPr/>
          </a:p>
        </p:txBody>
      </p:sp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1069848" y="1502230"/>
            <a:ext cx="10058400" cy="3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Theory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Parallelization</a:t>
            </a:r>
            <a:endParaRPr/>
          </a:p>
          <a:p>
            <a:pPr marL="182880" lvl="0" indent="-17208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Applications of Monte Carlo Methods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Skills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Finish Molten Salt Reactor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Tallies</a:t>
            </a:r>
            <a:endParaRPr/>
          </a:p>
          <a:p>
            <a:pPr marL="182880" lvl="0" indent="-17208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Depletion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/>
              <a:t>THEORY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Please stop and ask question along the way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84504" y="464119"/>
            <a:ext cx="10222992" cy="80683"/>
          </a:xfrm>
          <a:prstGeom prst="rect">
            <a:avLst/>
          </a:prstGeom>
          <a:blipFill rotWithShape="1">
            <a:blip r:embed="rId3">
              <a:alphaModFix amt="85000"/>
            </a:blip>
            <a:tile tx="0" ty="-76200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84504" y="601952"/>
            <a:ext cx="10222992" cy="1385874"/>
          </a:xfrm>
          <a:prstGeom prst="rect">
            <a:avLst/>
          </a:prstGeom>
          <a:blipFill rotWithShape="1">
            <a:blip r:embed="rId3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84504" y="2038655"/>
            <a:ext cx="10222992" cy="80683"/>
          </a:xfrm>
          <a:prstGeom prst="rect">
            <a:avLst/>
          </a:prstGeom>
          <a:blipFill rotWithShape="1">
            <a:blip r:embed="rId3">
              <a:alphaModFix amt="85000"/>
            </a:blip>
            <a:tile tx="0" ty="-7175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Parallelization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body" idx="1"/>
          </p:nvPr>
        </p:nvSpPr>
        <p:spPr>
          <a:xfrm>
            <a:off x="4319401" y="2320400"/>
            <a:ext cx="6809100" cy="3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In each generation, the lifetime of every particle is independent of every other particle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This is good for parallel computing because a significant amount of computation is used in particle tracking and x-section look up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In order to calculate the tallies at the end of each generation, however, the data from each particle lifetime is required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Thus parallelization is done as follows:</a:t>
            </a:r>
            <a:endParaRPr sz="17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Geometry and nuclear data are loaded once and replicated on each process/thread</a:t>
            </a:r>
            <a:endParaRPr sz="17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The first cycle begins</a:t>
            </a:r>
            <a:endParaRPr sz="17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Particles lives/histories are tracked on separate threads</a:t>
            </a:r>
            <a:endParaRPr sz="17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At the end of the cycle, the threads communicate and tally data is computed</a:t>
            </a:r>
            <a:endParaRPr sz="17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 dirty="0"/>
              <a:t>The next cycle begins</a:t>
            </a:r>
            <a:endParaRPr sz="1700" dirty="0"/>
          </a:p>
        </p:txBody>
      </p:sp>
      <p:sp>
        <p:nvSpPr>
          <p:cNvPr id="138" name="Google Shape;138;p5"/>
          <p:cNvSpPr/>
          <p:nvPr/>
        </p:nvSpPr>
        <p:spPr>
          <a:xfrm>
            <a:off x="11401725" y="6229681"/>
            <a:ext cx="457200" cy="457200"/>
          </a:xfrm>
          <a:prstGeom prst="ellipse">
            <a:avLst/>
          </a:prstGeom>
          <a:blipFill rotWithShape="1">
            <a:blip r:embed="rId4">
              <a:alphaModFix/>
            </a:blip>
            <a:tile tx="50800" ty="0" sx="85000" sy="85000" flip="none" algn="tl"/>
          </a:blip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None/>
            </a:pPr>
            <a:endParaRPr sz="2000" b="1" i="0" u="none" strike="noStrike" cap="none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4500" y="2170176"/>
            <a:ext cx="3094326" cy="4641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Nuclear Engineering (Neutron &amp; Photon Transport)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Detector design and calibration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Cosmic ray and astrophysics simulations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Modeling of electron/photon transport in materials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Computational Chemistry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Fusion reactor design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Radiation therapy dose calculations</a:t>
            </a:r>
            <a:endParaRPr dirty="0"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Imaging physics (PET/SPECT)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(Not all can be done with OpenMC, just Monte Carlo Methods)</a:t>
            </a:r>
            <a:endParaRPr dirty="0"/>
          </a:p>
        </p:txBody>
      </p:sp>
      <p:sp>
        <p:nvSpPr>
          <p:cNvPr id="146" name="Google Shape;146;p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Applications of Monte Carlo Methods - High Level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59aadb6d_0_1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Applications of Monte Carlo Methods - Neutronic Modeling</a:t>
            </a:r>
            <a:endParaRPr/>
          </a:p>
        </p:txBody>
      </p:sp>
      <p:sp>
        <p:nvSpPr>
          <p:cNvPr id="152" name="Google Shape;152;g3ab59aadb6d_0_1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Common Monte Carlo Codes</a:t>
            </a:r>
            <a:endParaRPr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MCNP (Oak Ridge National Lab)</a:t>
            </a:r>
            <a:endParaRPr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Serpent (National Lab in Finland)</a:t>
            </a:r>
            <a:endParaRPr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OpenMC (Open source, Originated at MIT, contributions from labs)</a:t>
            </a:r>
            <a:endParaRPr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SCALE (Oak Ridge National Lab)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59aadb6d_0_3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Applications of Monte Carlo Methods - OpenMC</a:t>
            </a:r>
            <a:endParaRPr/>
          </a:p>
        </p:txBody>
      </p:sp>
      <p:sp>
        <p:nvSpPr>
          <p:cNvPr id="158" name="Google Shape;158;g3ab59aadb6d_0_3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Reactor Core Physics - model a reactor core and compute: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multiplication factor (k-eff)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Power distribution (axial, radial)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Fission rate or reaction rate maps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Flux distribution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Component reactivity comparisons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Fuel depletion over burnup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Fuel Assembly or Pin-Cell Calculations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Infinite multiplication factor (k-inf)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Doppler temperature coefficients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Moderator temperature/void coefficients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Effects of fuel enrichment or burnable absorbers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b59aadb6d_0_4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Applications of Monte Carlo Methods - OpenMC</a:t>
            </a:r>
            <a:endParaRPr/>
          </a:p>
        </p:txBody>
      </p:sp>
      <p:sp>
        <p:nvSpPr>
          <p:cNvPr id="164" name="Google Shape;164;g3ab59aadb6d_0_42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10058400" cy="45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Criticality Safety Evaluations - keff + uncertainty, sensitivity to material/geometry variations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Fresh fuel storage racks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Spent fuel pools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Transport containers (dry casks, railcar transports)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Chemical processing tanks with fissile solutions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Radiation Shielding and Dose Calculation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Dose rate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Shutdown dose calculations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Depletion / Burnup Studies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Fuel isotopic evolution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Burnup-dependent reactivity changes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Actinide buildup and fission product poisoning</a:t>
            </a:r>
            <a:endParaRPr/>
          </a:p>
          <a:p>
            <a:pPr marL="1371600" lvl="2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Decay heat estimation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b59aadb6d_0_6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Applications of Monte Carlo Methods - OpenMC</a:t>
            </a:r>
            <a:endParaRPr/>
          </a:p>
        </p:txBody>
      </p:sp>
      <p:sp>
        <p:nvSpPr>
          <p:cNvPr id="170" name="Google Shape;170;g3ab59aadb6d_0_60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10058400" cy="45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Coupling with Thermal-Hydraulics or Fuel Performance Codes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Experiment Benchmarking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Waste classification studies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Detector design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Neutron scattering experiments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Neutron imaging and shielding problems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59aadb6d_0_7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Applications of Monte Carlo Methods - OpenMC</a:t>
            </a:r>
            <a:endParaRPr/>
          </a:p>
        </p:txBody>
      </p:sp>
      <p:sp>
        <p:nvSpPr>
          <p:cNvPr id="176" name="Google Shape;176;g3ab59aadb6d_0_71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10058400" cy="45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Examples of actual things you could/would run in OpenMC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Compute keff for a 17×17 PWR assembly with various enrichments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Find radial power peaking factors in a full-core SMR model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Simulate void coefficient for a BWR at different power/flow states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Calculate dose rate behind a shielding wall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Perform burnup calculation for a pin to 60 GWd/MTU and examine isotopic buildup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Determine if a spent fuel cask is safely subcritical under flooding conditions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Run a mesh tally to compute neutron flux along a reactor vessel wall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Evaluate the reactivity worth of a control rod movement.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Run an accident scenario, like cold-water reactivity insertion, by varying moderator temperature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Generate multi-group cross section data for a deterministic core simulator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/>
              <a:t>SKILLS</a:t>
            </a:r>
            <a:endParaRPr/>
          </a:p>
        </p:txBody>
      </p:sp>
      <p:sp>
        <p:nvSpPr>
          <p:cNvPr id="182" name="Google Shape;182;p12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Brief overview here, and then transition to the Jupyter Notebook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-US"/>
              <a:t>Finish Molten Salt Reactor</a:t>
            </a:r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Last week we created a model of a Molten Chloride Reactor (MCFR-D, MCFR-C) (Image and Data From TerraPower Report)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82880" lvl="0" indent="-17208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Last week we created: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Materials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Geometry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Visualization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Settings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This week we will create: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Tallies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 Depletion Run</a:t>
            </a:r>
            <a:endParaRPr/>
          </a:p>
          <a:p>
            <a:pPr marL="182880" lvl="0" indent="-74929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189" name="Google Shape;189;p13"/>
          <p:cNvPicPr preferRelativeResize="0"/>
          <p:nvPr/>
        </p:nvPicPr>
        <p:blipFill rotWithShape="1">
          <a:blip r:embed="rId3">
            <a:alphaModFix/>
          </a:blip>
          <a:srcRect r="2581"/>
          <a:stretch/>
        </p:blipFill>
        <p:spPr>
          <a:xfrm>
            <a:off x="6923311" y="2557550"/>
            <a:ext cx="4235200" cy="384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3" descr="A cartoon of a rectangular objec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43943" y="2707977"/>
            <a:ext cx="2614515" cy="415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b59aadb6d_0_8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-US"/>
              <a:t>Tallies</a:t>
            </a:r>
            <a:endParaRPr/>
          </a:p>
        </p:txBody>
      </p:sp>
      <p:sp>
        <p:nvSpPr>
          <p:cNvPr id="196" name="Google Shape;196;g3ab59aadb6d_0_8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Specify Filters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Energy Filter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Material Filter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Specify Score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Flux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Total Reaction Rate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Fission Rate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Absorption Rate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etc. (many more)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Create tallies object and export to .xml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Post Process Tallies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Depletion</a:t>
            </a:r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body" idx="1"/>
          </p:nvPr>
        </p:nvSpPr>
        <p:spPr>
          <a:xfrm>
            <a:off x="1069850" y="1733375"/>
            <a:ext cx="10058400" cy="49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Specify</a:t>
            </a:r>
            <a:endParaRPr dirty="0"/>
          </a:p>
          <a:p>
            <a:pPr marL="457200" lvl="1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Reactor power</a:t>
            </a:r>
            <a:endParaRPr dirty="0"/>
          </a:p>
          <a:p>
            <a:pPr marL="457200" lvl="1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Timestep units (</a:t>
            </a:r>
            <a:r>
              <a:rPr lang="en-US" sz="1800" dirty="0" err="1"/>
              <a:t>MWd</a:t>
            </a:r>
            <a:r>
              <a:rPr lang="en-US" sz="1800" dirty="0"/>
              <a:t>/kg = </a:t>
            </a:r>
            <a:r>
              <a:rPr lang="en-US" sz="1800" dirty="0" err="1"/>
              <a:t>MegaWatt</a:t>
            </a:r>
            <a:r>
              <a:rPr lang="en-US" sz="1800" dirty="0"/>
              <a:t> Day / kg of Heavy Metal)</a:t>
            </a:r>
            <a:endParaRPr dirty="0"/>
          </a:p>
          <a:p>
            <a:pPr marL="457200" lvl="1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Timesteps</a:t>
            </a:r>
            <a:endParaRPr dirty="0"/>
          </a:p>
          <a:p>
            <a:pPr marL="457200" lvl="1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The volume of all depletable material</a:t>
            </a:r>
            <a:endParaRPr dirty="0"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Pass your model into a model object</a:t>
            </a:r>
            <a:endParaRPr dirty="0"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Specify your model object and depletion data in the operator object</a:t>
            </a:r>
            <a:endParaRPr dirty="0"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Chose an integrator</a:t>
            </a:r>
            <a:endParaRPr dirty="0"/>
          </a:p>
          <a:p>
            <a:pPr marL="457200" lvl="1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The integrator is pretty much which numerical method should be used. CECM is often the best operator. The simplest/fastest is usually Predictor Integrator.</a:t>
            </a:r>
            <a:endParaRPr dirty="0"/>
          </a:p>
          <a:p>
            <a:pPr marL="182880" lvl="0" indent="-182880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Specify the operator and other settings in the integrator object and then run the depletion calculation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/>
              <a:t>APPLY IT</a:t>
            </a:r>
            <a:endParaRPr/>
          </a:p>
        </p:txBody>
      </p:sp>
      <p:sp>
        <p:nvSpPr>
          <p:cNvPr id="208" name="Google Shape;208;p17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APPLY IT</a:t>
            </a:r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body" idx="1"/>
          </p:nvPr>
        </p:nvSpPr>
        <p:spPr>
          <a:xfrm>
            <a:off x="1069848" y="2121407"/>
            <a:ext cx="10058400" cy="45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Go to the crash course openmc directory that you cloned from the github and type run the command “git pull” to get the most up to date version of code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Navigate to the week 5 folder &gt;&gt; mcfr_D &gt;&gt; mcfr_D.ipynb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We will walk through mcfr_D tallies and depletion together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You will then add tallies and depletion to your mcfr_C model from last week on your own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Some guidelines: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Copy your last week’s MCFR_C model to the week5/MCFR_C directory and add to it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Avoid using AI at least while you’re learning how it works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Also for syntax and code help refer to OpenMC documentation under users guide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https://docs.openmc.org/en/stable/usersguide/index.html</a:t>
            </a:r>
            <a:r>
              <a:rPr lang="en-US"/>
              <a:t>) it’s very well done</a:t>
            </a:r>
            <a:endParaRPr/>
          </a:p>
          <a:p>
            <a:pPr marL="457200" lvl="1" indent="-85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918</Words>
  <Application>Microsoft Office PowerPoint</Application>
  <PresentationFormat>Widescreen</PresentationFormat>
  <Paragraphs>147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Noto Sans Symbols</vt:lpstr>
      <vt:lpstr>Rockwell</vt:lpstr>
      <vt:lpstr>Wood Type</vt:lpstr>
      <vt:lpstr>OPENMC IS COOL</vt:lpstr>
      <vt:lpstr>REVIEW FROM WEEK 4</vt:lpstr>
      <vt:lpstr>GOALS TODAY</vt:lpstr>
      <vt:lpstr>THEORY</vt:lpstr>
      <vt:lpstr>Parallelization</vt:lpstr>
      <vt:lpstr>Applications of Monte Carlo Methods - High Level</vt:lpstr>
      <vt:lpstr>Applications of Monte Carlo Methods - Neutronic Modeling</vt:lpstr>
      <vt:lpstr>Applications of Monte Carlo Methods - OpenMC</vt:lpstr>
      <vt:lpstr>Applications of Monte Carlo Methods - OpenMC</vt:lpstr>
      <vt:lpstr>Applications of Monte Carlo Methods - OpenMC</vt:lpstr>
      <vt:lpstr>Applications of Monte Carlo Methods - OpenMC</vt:lpstr>
      <vt:lpstr>SKILLS</vt:lpstr>
      <vt:lpstr>Finish Molten Salt Reactor</vt:lpstr>
      <vt:lpstr>Tallies</vt:lpstr>
      <vt:lpstr>Depletion</vt:lpstr>
      <vt:lpstr>APPLY IT</vt:lpstr>
      <vt:lpstr>APPLY 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 Madsen</dc:creator>
  <cp:lastModifiedBy>William Madsen</cp:lastModifiedBy>
  <cp:revision>1</cp:revision>
  <dcterms:created xsi:type="dcterms:W3CDTF">2025-10-18T06:11:07Z</dcterms:created>
  <dcterms:modified xsi:type="dcterms:W3CDTF">2025-11-29T15:47:45Z</dcterms:modified>
</cp:coreProperties>
</file>